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【オープニング・約2分】SHIFT AI勉強会へようこそ。今日は私が実際に作って研修現場で使っているツール『報告書＆手順書ファクトリー PRO』を題材に、“AIは任意・オフラインで動く実務ツール”をHTML一枚でどう作るかを、図解で分解していきます。ゴールは『新人は全体像をつかむ』『中堅は拡張の勘どころを持ち帰る』の2つ。スライドのチップ（🐣新人向け／🛠中堅向け）で対象を示すので、自分の階層を意識して聞いてください。最後に5分ワーク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2分】道のりを5ステップで予告。新人さんは①②⑤、中堅は③④⑤に特に注目、と声かけ。目印チップの説明をして、置いてけぼりを防ぐ。『分からない用語が出たら手を挙げて』と心理的安全性を確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3分】まず触ったことがある前提で“何ができるか”を共有。左の図で『左に書く→右に完成→下のボタンで保存』の3エリアを指さしながら説明。ポイントは“ヒント付き”と“空欄スキップ”。新人が報告書で詰まる最大要因＝何を書くか分からない問題を、項目とヒントで解消している、と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2.5分】WHY→WHAT→HOWの順で。報告が止まる→助けたい（WHY）が出発点。ここで“なぜHTML一枚／なぜAIは任意か”の伏線を張る。困りごと→解決の左図を使い、ツールが『先生の代わりに型を差し出す』存在だと印象づ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3分・新人の山場】このスライドが今日いちばん大事。うさうさラーメン店の比喩で全体像を体に入れる。左の一本道を上から指でなぞりながら、右の対応表とペアで読む。『メニュー＝定義、注文票＝入力、厨房＝生成、提供＝プレビュー、持ち帰り＝保存』。ここを押さえると、以降の専門的な話がすべてこの地図の上に乗る、と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2.5分】ラーメン店の比喩を“技術の言葉”に翻訳。5階層を下から積み上げで提示。新人は『土台＝定義/状態、上＝見た目/文章/保存』の感覚でOK。中堅へは“単方向＝上が下を呼ぶだけ”を強調し、改修の影響範囲が読みやすい利点に触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2分】“同じリズムで動く”が要点。左図を上から下へなぞり、左端の点線ループ＝入力のたびに全部作り直す、を説明。新人には『だから打った瞬間に右が変わる』で十分。中堅には『状態が1箇所（store）に集約＝再現とデバッグが楽』を補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3分・中堅の山場】“データ駆動”の威力を実演的に語る。左図：定義(VARIANTS/META/FIELDS/SAMPLES)を書くだけで、フォームも完成文書も自動で付いてくる。つまり新タイプ追加は分岐ロジックを触らず、データを足すだけの3〜4手。保守コストが劇的に下がる、が持ち帰りメッセージ。後半のワークで実際にこれをやる、と予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2分】1つの中間表現（previewToBlocks）から5形式に枝分かれ、というハブ＆スポークを図で。中堅へは『共通の素を持つと整合が取りやすい』設計の一般原則として紹介。CSVのBOM付きは実務での“文字化け回避”あるあるなので受けがい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【約3分・SHIFT AI的ハイライト】“AIをどう実務に足すか”の作法。3原則=任意・透明・人の確認。左の流れ図で『送信前に検証→プロンプトを開示→fetchで送る』。SHIFT AI文脈なので、BYOK（鍵を自分で・保存しない）と“実名や数字を改変しない指示”を強調。AIは文体を整えるだけ、内容の真偽は人が担保、という線引きを明確に伝える。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2分】安全運用の4ルール。左図で『ふだんは端末の中だけ／AI使用時だけ外部送信』の境界を見せる。新人にも刺さるよう、実名NG・役職名で、を具体例で。中堅へは“localStorage不使用＝共有端末でも残らない”の設計意図を補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2分・新人向け総まとめ】3手（えらぶ→かく→だす）を体に入れて終わる。“完璧じゃなくていい・空欄OK・まず例を入れる”で心理的ハードルを下げる。結論ファーストと数字の効用を、実際の出力例（出席18/18）で軽く触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2.5分・中堅向け】設計は“トレードオフの集合”。各判断で🙆得たもの/🤔引き換えをセットで読む訓練。特に単一HTML（配布◎/テスト△）とデータ駆動（追加◎/暗黙仕様△）。右の負債候補は、次に手を入れるなら何から、の議論の入口として提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3分・ハンズオン解説】データ駆動を“手を動かして”実感。お題は日報タイプの追加。VARIANTS→META→FIELDS→(SAMPLES)の4手を順に。右の擬似コードを見せ『分岐ロジックを一切触っていない』ことを強調。out指定で汎用ビルダーに自動で乗る点が肝。時間が許せば、画面共有で実際に1項目足して即プレビュー反映を見せると効果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ワーク5分＋共有3分・講師進行】タイマー開始を明言（5分）。ペア推奨、個人でも可。巡回しながら『その項目、なぜ書くの？』と“ねらい”を引き出す問いを投げる。残り1分で予告。共有は1〜2名。発表の“項目＋ねらい”を、前スライドの4手（VARIANTS→META→FIELDS）に当てはめて見せると学びが締まる。時間が押したら共有は割愛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【約1.5分】3つの持ち帰りを声に出して確認（全体像・データ駆動・AIの作法）。参考資料は“次の一歩”用。社内の設計書（別途配布）に詳細があると案内。質問は次のスライドで受ける。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【クロージング・約1分】今日のキーフレーズ『つくって、つかって、また直す』で締める。質問を受ける。実装に興味がある人には設計書とソースを共有。SHIFT AIコミュニティでの継続学習を促して終了。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7B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08792" cy="5577840"/>
          </a:xfrm>
          <a:prstGeom prst="roundRect">
            <a:avLst>
              <a:gd name="adj" fmla="val 6557"/>
            </a:avLst>
          </a:prstGeom>
          <a:solidFill>
            <a:srgbClr val="FFF4F8"/>
          </a:solidFill>
          <a:ln/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-600000">
            <a:off x="1912010" y="1783080"/>
            <a:ext cx="370332" cy="814730"/>
          </a:xfrm>
          <a:prstGeom prst="ellipse">
            <a:avLst/>
          </a:prstGeom>
          <a:solidFill>
            <a:srgbClr val="D7A9BE"/>
          </a:solidFill>
          <a:ln/>
        </p:spPr>
      </p:sp>
      <p:sp>
        <p:nvSpPr>
          <p:cNvPr id="4" name="Shape 2"/>
          <p:cNvSpPr/>
          <p:nvPr/>
        </p:nvSpPr>
        <p:spPr>
          <a:xfrm rot="600000">
            <a:off x="2381098" y="1783080"/>
            <a:ext cx="370332" cy="814730"/>
          </a:xfrm>
          <a:prstGeom prst="ellipse">
            <a:avLst/>
          </a:prstGeom>
          <a:solidFill>
            <a:srgbClr val="D7A9BE"/>
          </a:solidFill>
          <a:ln/>
        </p:spPr>
      </p:sp>
      <p:sp>
        <p:nvSpPr>
          <p:cNvPr id="5" name="Shape 3"/>
          <p:cNvSpPr/>
          <p:nvPr/>
        </p:nvSpPr>
        <p:spPr>
          <a:xfrm>
            <a:off x="1714500" y="2288213"/>
            <a:ext cx="1234440" cy="1160374"/>
          </a:xfrm>
          <a:prstGeom prst="ellipse">
            <a:avLst/>
          </a:prstGeom>
          <a:solidFill>
            <a:srgbClr val="D7A9BE"/>
          </a:solidFill>
          <a:ln/>
        </p:spPr>
      </p:sp>
      <p:sp>
        <p:nvSpPr>
          <p:cNvPr id="6" name="Shape 4"/>
          <p:cNvSpPr/>
          <p:nvPr/>
        </p:nvSpPr>
        <p:spPr>
          <a:xfrm>
            <a:off x="4160520" y="14173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C9B3E6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60520" y="1417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3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SHIFT AI 勉強会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8FD4BE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1417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0" y="1965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HTML一枚で “AI任意” の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114800" y="2697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実務ツールを作る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11480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 報告書＆手順書ファクトリー PRO に学ぶ 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0" y="4297680"/>
            <a:ext cx="7040880" cy="128016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43400" y="44348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今日のお品書き：</a:t>
            </a:r>
            <a:pPr indent="0" marL="0">
              <a:buNone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「型を知らなくても、型どおりの文書が出る」仕組みを、図解で分解します。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43400" y="49834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講師：石黒（うさうさ先生）</a:t>
            </a:r>
            <a:pPr indent="0" marL="0">
              <a:buNone/>
            </a:pPr>
            <a:r>
              <a:rPr lang="en-US" sz="1200" i="1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／　面白きこともなき世を面白く（高杉晋作）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658368" cy="658368"/>
          </a:xfrm>
          <a:prstGeom prst="ellipse">
            <a:avLst/>
          </a:prstGeom>
          <a:solidFill>
            <a:srgbClr val="E87BA4"/>
          </a:solidFill>
          <a:ln/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本日のゴールと進め方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104120" y="6400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04120" y="6400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F2CBDB"/>
            </a:solidFill>
            <a:prstDash val="solid"/>
          </a:ln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276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きょうの道のり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87BA4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14884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600200" y="2130552"/>
            <a:ext cx="5029200" cy="603504"/>
          </a:xfrm>
          <a:prstGeom prst="roundRect">
            <a:avLst>
              <a:gd name="adj" fmla="val 18182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83080" y="2130552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正体を知る　</a:t>
            </a:r>
            <a:pPr indent="0" marL="0">
              <a:buNone/>
            </a:pPr>
            <a:r>
              <a:rPr lang="en-US" sz="11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何ができるツール？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52144" y="2715768"/>
            <a:ext cx="0" cy="219456"/>
          </a:xfrm>
          <a:prstGeom prst="line">
            <a:avLst/>
          </a:prstGeom>
          <a:noFill/>
          <a:ln w="2540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8680" y="295351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2953512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600200" y="2935224"/>
            <a:ext cx="5029200" cy="603504"/>
          </a:xfrm>
          <a:prstGeom prst="roundRect">
            <a:avLst>
              <a:gd name="adj" fmla="val 18182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83080" y="293522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　</a:t>
            </a:r>
            <a:pPr indent="0" marL="0">
              <a:buNone/>
            </a:pPr>
            <a:r>
              <a:rPr lang="en-US" sz="11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ラーメン店モデル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152144" y="3520440"/>
            <a:ext cx="0" cy="219456"/>
          </a:xfrm>
          <a:prstGeom prst="line">
            <a:avLst/>
          </a:prstGeom>
          <a:noFill/>
          <a:ln w="2540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8680" y="3758184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8FD4BE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3758184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600200" y="3739896"/>
            <a:ext cx="5029200" cy="603504"/>
          </a:xfrm>
          <a:prstGeom prst="roundRect">
            <a:avLst>
              <a:gd name="adj" fmla="val 18182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783080" y="3739896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中の仕組み　</a:t>
            </a:r>
            <a:pPr indent="0" marL="0">
              <a:buNone/>
            </a:pPr>
            <a:r>
              <a:rPr lang="en-US" sz="11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5階層・データの流れ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152144" y="4325112"/>
            <a:ext cx="0" cy="219456"/>
          </a:xfrm>
          <a:prstGeom prst="line">
            <a:avLst/>
          </a:prstGeom>
          <a:noFill/>
          <a:ln w="2540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8680" y="456285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C9B3E6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456285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600200" y="4544568"/>
            <a:ext cx="5029200" cy="603504"/>
          </a:xfrm>
          <a:prstGeom prst="roundRect">
            <a:avLst>
              <a:gd name="adj" fmla="val 18182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783080" y="454456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AIと安全　</a:t>
            </a:r>
            <a:pPr indent="0" marL="0">
              <a:buNone/>
            </a:pPr>
            <a:r>
              <a:rPr lang="en-US" sz="11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BYOK・透明性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152144" y="5129784"/>
            <a:ext cx="0" cy="219456"/>
          </a:xfrm>
          <a:prstGeom prst="line">
            <a:avLst/>
          </a:prstGeom>
          <a:noFill/>
          <a:ln w="2540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68680" y="536752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D14E8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4400" y="53675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600200" y="5349240"/>
            <a:ext cx="5029200" cy="603504"/>
          </a:xfrm>
          <a:prstGeom prst="roundRect">
            <a:avLst>
              <a:gd name="adj" fmla="val 18182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783080" y="534924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拡張ワーク　</a:t>
            </a:r>
            <a:pPr indent="0" marL="0">
              <a:buNone/>
            </a:pPr>
            <a:r>
              <a:rPr lang="en-US" sz="11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型を増やす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178040" y="1481328"/>
            <a:ext cx="4507992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06640" y="1627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406640" y="205740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新人：ツールの全体像が説明できる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中堅：最小手数の拡張ができる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共通：“AI任意”設計の型を持ち帰る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178040" y="3401568"/>
            <a:ext cx="4507992" cy="2971800"/>
          </a:xfrm>
          <a:prstGeom prst="roundRect">
            <a:avLst>
              <a:gd name="adj" fmla="val 4923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406640" y="35295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スライドの目印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406640" y="397764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8FD4BE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06640" y="397764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新人向け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961120" y="39776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やさしい比喩で説明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406640" y="443484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C9B3E6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406640" y="443484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3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961120" y="44348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設計判断・拡張の話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06640" y="489204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406640" y="48920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受講生向け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961120" y="48920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全員むけの要点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406640" y="534924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406640" y="53492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講師パート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961120" y="5349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ノート＝進行台本つき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406640" y="5852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各スライド下の“ノート”に講師用の進め方を記載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658368" cy="658368"/>
          </a:xfrm>
          <a:prstGeom prst="ellipse">
            <a:avLst/>
          </a:prstGeom>
          <a:solidFill>
            <a:srgbClr val="E87BA4"/>
          </a:solidFill>
          <a:ln/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これは何？ ツールの正体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104120" y="64008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8FD4BE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04120" y="6400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F2CBDB"/>
            </a:solidFill>
            <a:prstDash val="solid"/>
          </a:ln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0934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E87BA4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201168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60604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26974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記入フォーム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3108960"/>
            <a:ext cx="24231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31089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件名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0120" y="3675888"/>
            <a:ext cx="24231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367588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" y="4242816"/>
            <a:ext cx="24231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" y="424281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実施内容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0120" y="4809744"/>
            <a:ext cx="24231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480974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結果・数値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0120" y="5376672"/>
            <a:ext cx="24231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5840" y="537667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今後の対応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03320" y="2606040"/>
            <a:ext cx="31089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0" y="26974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できあがり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0" y="306324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6月セキュリティ研修 報告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結論　予定どおり進行…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実施内容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・午前 講義／午後 演習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結果・数値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・出席 18/18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703320" y="5504688"/>
            <a:ext cx="731520" cy="384048"/>
          </a:xfrm>
          <a:prstGeom prst="roundRect">
            <a:avLst>
              <a:gd name="adj" fmla="val 23810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49040" y="55046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89704" y="5504688"/>
            <a:ext cx="731520" cy="384048"/>
          </a:xfrm>
          <a:prstGeom prst="roundRect">
            <a:avLst>
              <a:gd name="adj" fmla="val 23810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35424" y="55046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76088" y="5504688"/>
            <a:ext cx="731520" cy="384048"/>
          </a:xfrm>
          <a:prstGeom prst="roundRect">
            <a:avLst>
              <a:gd name="adj" fmla="val 23810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21808" y="55046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Markdown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62472" y="5504688"/>
            <a:ext cx="731520" cy="384048"/>
          </a:xfrm>
          <a:prstGeom prst="roundRect">
            <a:avLst>
              <a:gd name="adj" fmla="val 23810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08192" y="55046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CSV/Excel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566160" y="4023360"/>
            <a:ext cx="91440" cy="0"/>
          </a:xfrm>
          <a:prstGeom prst="line">
            <a:avLst/>
          </a:prstGeom>
          <a:noFill/>
          <a:ln w="30480">
            <a:solidFill>
              <a:srgbClr val="D14E8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178040" y="1481328"/>
            <a:ext cx="4507992" cy="1828800"/>
          </a:xfrm>
          <a:prstGeom prst="roundRect">
            <a:avLst>
              <a:gd name="adj" fmla="val 80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406640" y="159105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ひとことで言うと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406640" y="19659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空欄を埋めるだけで、日本語のビジネス文書（報告書・手順書）が完成するツール。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406640" y="3520440"/>
            <a:ext cx="4160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報告書11タイプ・手順書3タイプを収録</a:t>
            </a:r>
            <a:endParaRPr lang="en-US" sz="135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各項目に「なぜ書くか」のヒント付き</a:t>
            </a:r>
            <a:endParaRPr lang="en-US" sz="135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空欄はスキップOK（出力に出ない）</a:t>
            </a:r>
            <a:endParaRPr lang="en-US" sz="135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Word／PDF／Markdown／CSV／Excelへ出力</a:t>
            </a:r>
            <a:endParaRPr lang="en-US" sz="135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AIで文章を整えるのは“任意”機能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658368" cy="658368"/>
          </a:xfrm>
          <a:prstGeom prst="ellipse">
            <a:avLst/>
          </a:prstGeom>
          <a:solidFill>
            <a:srgbClr val="E87BA4"/>
          </a:solidFill>
          <a:ln/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なぜ作る？ 困りごと → ねらい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104120" y="64008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8FD4BE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04120" y="6400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F2CBDB"/>
            </a:solidFill>
            <a:prstDash val="solid"/>
          </a:ln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92024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0299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😵 困りごと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4688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何をどの順で書く？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型を覚えられない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毎回ゼロから不安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-600000">
            <a:off x="3694176" y="1828800"/>
            <a:ext cx="411480" cy="905256"/>
          </a:xfrm>
          <a:prstGeom prst="ellipse">
            <a:avLst/>
          </a:prstGeom>
          <a:solidFill>
            <a:srgbClr val="D7A9BE"/>
          </a:solidFill>
          <a:ln/>
        </p:spPr>
      </p:sp>
      <p:sp>
        <p:nvSpPr>
          <p:cNvPr id="12" name="Shape 10"/>
          <p:cNvSpPr/>
          <p:nvPr/>
        </p:nvSpPr>
        <p:spPr>
          <a:xfrm rot="600000">
            <a:off x="4215384" y="1828800"/>
            <a:ext cx="411480" cy="905256"/>
          </a:xfrm>
          <a:prstGeom prst="ellipse">
            <a:avLst/>
          </a:prstGeom>
          <a:solidFill>
            <a:srgbClr val="D7A9BE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2390059"/>
            <a:ext cx="1371600" cy="1289304"/>
          </a:xfrm>
          <a:prstGeom prst="ellipse">
            <a:avLst/>
          </a:prstGeom>
          <a:solidFill>
            <a:srgbClr val="D7A9BE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2834640"/>
            <a:ext cx="1234440" cy="0"/>
          </a:xfrm>
          <a:prstGeom prst="line">
            <a:avLst/>
          </a:prstGeom>
          <a:noFill/>
          <a:ln w="3810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38328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うさうさ先生が橋渡し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0" y="1920240"/>
            <a:ext cx="1691640" cy="1828800"/>
          </a:xfrm>
          <a:prstGeom prst="roundRect">
            <a:avLst>
              <a:gd name="adj" fmla="val 7568"/>
            </a:avLst>
          </a:prstGeom>
          <a:solidFill>
            <a:srgbClr val="8FD4BE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20299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😊 解決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57800" y="246888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型が出る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学べる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すぐ出せる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4069080"/>
            <a:ext cx="5897880" cy="2057400"/>
          </a:xfrm>
          <a:prstGeom prst="roundRect">
            <a:avLst>
              <a:gd name="adj" fmla="val 6222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51560" y="4224528"/>
            <a:ext cx="1005840" cy="512064"/>
          </a:xfrm>
          <a:prstGeom prst="roundRect">
            <a:avLst>
              <a:gd name="adj" fmla="val 17857"/>
            </a:avLst>
          </a:prstGeom>
          <a:solidFill>
            <a:srgbClr val="D14E8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42245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94560" y="4224528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　</a:t>
            </a:r>
            <a:pPr indent="0" marL="0">
              <a:buNone/>
            </a:pPr>
            <a:r>
              <a:rPr lang="en-US" sz="12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書き方が分からず、報告が止まる人を助けたい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51560" y="4828032"/>
            <a:ext cx="1005840" cy="512064"/>
          </a:xfrm>
          <a:prstGeom prst="roundRect">
            <a:avLst>
              <a:gd name="adj" fmla="val 17857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482803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WHAT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94560" y="482803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なに　</a:t>
            </a:r>
            <a:pPr indent="0" marL="0">
              <a:buNone/>
            </a:pPr>
            <a:r>
              <a:rPr lang="en-US" sz="12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項目＋ヒント＋完成プレビューを1画面で提供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51560" y="5431536"/>
            <a:ext cx="1005840" cy="512064"/>
          </a:xfrm>
          <a:prstGeom prst="roundRect">
            <a:avLst>
              <a:gd name="adj" fmla="val 17857"/>
            </a:avLst>
          </a:prstGeom>
          <a:solidFill>
            <a:srgbClr val="8FD4BE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97280" y="543153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94560" y="5431536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　</a:t>
            </a:r>
            <a:pPr indent="0" marL="0">
              <a:buNone/>
            </a:pPr>
            <a:r>
              <a:rPr lang="en-US" sz="12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オフライン単一HTML・AIは任意で透明に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178040" y="1481328"/>
            <a:ext cx="4507992" cy="4892040"/>
          </a:xfrm>
          <a:prstGeom prst="roundRect">
            <a:avLst>
              <a:gd name="adj" fmla="val 32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06640" y="1645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 × 実務の両立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406640" y="21031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「書きながら型を覚え、そのまま成果物になる」ことを最優先に設計しています。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06640" y="3154680"/>
            <a:ext cx="4069080" cy="1371600"/>
          </a:xfrm>
          <a:prstGeom prst="roundRect">
            <a:avLst>
              <a:gd name="adj" fmla="val 80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589520" y="3246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新人さんへ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89520" y="358444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「正しい型」を暗記する前に、まず“型が出てくる体験”をして、出力を見ながら覚えれば大丈夫。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406640" y="4663440"/>
            <a:ext cx="4069080" cy="1554480"/>
          </a:xfrm>
          <a:prstGeom prst="roundRect">
            <a:avLst>
              <a:gd name="adj" fmla="val 7059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89520" y="47548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中堅さんへ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589520" y="509320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“1ツール・多用途”を成立させる鍵は、後で出てくるデータ駆動設計。ここを押さえると保守が一気に楽になります。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658368" cy="658368"/>
          </a:xfrm>
          <a:prstGeom prst="ellipse">
            <a:avLst/>
          </a:prstGeom>
          <a:solidFill>
            <a:srgbClr val="E87BA4"/>
          </a:solidFill>
          <a:ln/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ぜんたい像：うさうさラーメン店モデル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104120" y="64008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8FD4BE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04120" y="6400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766560" cy="489204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F2CBDB"/>
            </a:solidFill>
            <a:prstDash val="solid"/>
          </a:ln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59105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注文すると一杯が出てくるお店、と思ってください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0574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05740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645920" y="2057400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28800" y="205740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メニュー表　</a:t>
            </a:r>
            <a:pPr indent="0" marL="0">
              <a:buNone/>
            </a:pPr>
            <a:r>
              <a:rPr lang="en-US" sz="12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作れる種類の一覧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97864" y="2715768"/>
            <a:ext cx="0" cy="164592"/>
          </a:xfrm>
          <a:prstGeom prst="line">
            <a:avLst/>
          </a:prstGeom>
          <a:noFill/>
          <a:ln w="2540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8680" y="288036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87BA4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288036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645920" y="2880360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288036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注文票　</a:t>
            </a:r>
            <a:pPr indent="0" marL="0">
              <a:buNone/>
            </a:pPr>
            <a:r>
              <a:rPr lang="en-US" sz="12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あなたが書く欄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97864" y="3538728"/>
            <a:ext cx="0" cy="164592"/>
          </a:xfrm>
          <a:prstGeom prst="line">
            <a:avLst/>
          </a:prstGeom>
          <a:noFill/>
          <a:ln w="2540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8680" y="37033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C9B3E6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370332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45920" y="3703320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828800" y="37033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厨房のレシピ　</a:t>
            </a:r>
            <a:pPr indent="0" marL="0">
              <a:buNone/>
            </a:pPr>
            <a:r>
              <a:rPr lang="en-US" sz="12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決まった順に並べる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97864" y="4361688"/>
            <a:ext cx="0" cy="164592"/>
          </a:xfrm>
          <a:prstGeom prst="line">
            <a:avLst/>
          </a:prstGeom>
          <a:noFill/>
          <a:ln w="2540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8680" y="452628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8FD4BE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452628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645920" y="4526280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828800" y="45262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　</a:t>
            </a:r>
            <a:pPr indent="0" marL="0">
              <a:buNone/>
            </a:pPr>
            <a:r>
              <a:rPr lang="en-US" sz="12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右の完成プレビュー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197864" y="5184648"/>
            <a:ext cx="0" cy="164592"/>
          </a:xfrm>
          <a:prstGeom prst="line">
            <a:avLst/>
          </a:prstGeom>
          <a:noFill/>
          <a:ln w="2540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68680" y="534924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D14E8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4400" y="534924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645920" y="5349240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828800" y="53492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持ち帰り　</a:t>
            </a:r>
            <a:pPr indent="0" marL="0">
              <a:buNone/>
            </a:pPr>
            <a:r>
              <a:rPr lang="en-US" sz="12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Word・PDF等で保存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543800" y="1481328"/>
            <a:ext cx="4142232" cy="4892040"/>
          </a:xfrm>
          <a:prstGeom prst="roundRect">
            <a:avLst>
              <a:gd name="adj" fmla="val 3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ツールに置きかえると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72400" y="2148840"/>
            <a:ext cx="3657600" cy="658368"/>
          </a:xfrm>
          <a:prstGeom prst="roundRect">
            <a:avLst>
              <a:gd name="adj" fmla="val 13889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882128" y="21488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メニュー表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326880" y="214884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BA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46920" y="214884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定義データ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772400" y="2898648"/>
            <a:ext cx="3657600" cy="658368"/>
          </a:xfrm>
          <a:prstGeom prst="roundRect">
            <a:avLst>
              <a:gd name="adj" fmla="val 13889"/>
            </a:avLst>
          </a:prstGeom>
          <a:solidFill>
            <a:srgbClr val="FFF4F8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882128" y="28986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注文票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326880" y="2898648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BA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46920" y="289864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入力フォーム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772400" y="3648456"/>
            <a:ext cx="3657600" cy="658368"/>
          </a:xfrm>
          <a:prstGeom prst="roundRect">
            <a:avLst>
              <a:gd name="adj" fmla="val 13889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882128" y="364845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厨房のレシピ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326880" y="3648456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BA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646920" y="364845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生成関数（build）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7772400" y="4398264"/>
            <a:ext cx="3657600" cy="658368"/>
          </a:xfrm>
          <a:prstGeom prst="roundRect">
            <a:avLst>
              <a:gd name="adj" fmla="val 13889"/>
            </a:avLst>
          </a:prstGeom>
          <a:solidFill>
            <a:srgbClr val="FFF4F8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882128" y="439826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326880" y="439826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BA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646920" y="439826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プレビュー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772400" y="5148072"/>
            <a:ext cx="3657600" cy="658368"/>
          </a:xfrm>
          <a:prstGeom prst="roundRect">
            <a:avLst>
              <a:gd name="adj" fmla="val 13889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882128" y="514807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持ち帰り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9326880" y="5148072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BA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646920" y="514807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エクスポート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777240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難しい処理はなく、この一本道の繰り返しだけ。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658368" cy="658368"/>
          </a:xfrm>
          <a:prstGeom prst="ellipse">
            <a:avLst/>
          </a:prstGeom>
          <a:solidFill>
            <a:srgbClr val="E87BA4"/>
          </a:solidFill>
          <a:ln/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アーキテクチャ：5つの階層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104120" y="64008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C9B3E6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04120" y="6400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3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F2CBDB"/>
            </a:solidFill>
            <a:prstDash val="solid"/>
          </a:ln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828800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D14E8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182880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出力層　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テキストを各形式へ変換・保存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2688336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E87BA4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2688336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文書生成層　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状態から完成テキストを組み立て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68680" y="3547872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C9B3E6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3547872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描画層 (UI)　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定義と状態からDOMを生成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4407408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8FD4BE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4407408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状態層　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入力値を一元保持（store）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5266944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5266944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定義データ層　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文書タイプ・項目・サンプルの宣言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6126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下から上へ。下の層ほど“動かない土台”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78040" y="1481328"/>
            <a:ext cx="4507992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06640" y="1627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読み解きのコツ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06640" y="20574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①②は“データと状態”＝静かな土台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③は見た目、④は文章、⑤は保存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上の層は下の層を呼ぶだけ（単方向）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78040" y="3840480"/>
            <a:ext cx="4507992" cy="2532888"/>
          </a:xfrm>
          <a:prstGeom prst="roundRect">
            <a:avLst>
              <a:gd name="adj" fmla="val 5776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06640" y="39684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中堅向け：ポイント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6640" y="43891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層がきれいに分かれているので、改修は“どの層の話か”を決めれば影響範囲が読める。文章の様式変更なら④だけ、出力形式の追加なら⑤だけ、を触ればよい。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658368" cy="658368"/>
          </a:xfrm>
          <a:prstGeom prst="ellipse">
            <a:avLst/>
          </a:prstGeom>
          <a:solidFill>
            <a:srgbClr val="E87BA4"/>
          </a:solidFill>
          <a:ln/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データの流れ：いつも同じリズム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104120" y="6400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04120" y="6400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766560" cy="489204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F2CBDB"/>
            </a:solidFill>
            <a:prstDash val="solid"/>
          </a:ln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874520"/>
            <a:ext cx="2286000" cy="713232"/>
          </a:xfrm>
          <a:prstGeom prst="roundRect">
            <a:avLst>
              <a:gd name="adj" fmla="val 12821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8745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37560" y="1874520"/>
            <a:ext cx="3749040" cy="713232"/>
          </a:xfrm>
          <a:prstGeom prst="roundRect">
            <a:avLst>
              <a:gd name="adj" fmla="val 12821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8745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文字を打つ／行を増やす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11680" y="2587752"/>
            <a:ext cx="0" cy="201168"/>
          </a:xfrm>
          <a:prstGeom prst="line">
            <a:avLst/>
          </a:prstGeom>
          <a:noFill/>
          <a:ln w="2794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68680" y="2788920"/>
            <a:ext cx="2286000" cy="713232"/>
          </a:xfrm>
          <a:prstGeom prst="roundRect">
            <a:avLst>
              <a:gd name="adj" fmla="val 12821"/>
            </a:avLst>
          </a:prstGeom>
          <a:solidFill>
            <a:srgbClr val="8FD4BE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7889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37560" y="2788920"/>
            <a:ext cx="3749040" cy="713232"/>
          </a:xfrm>
          <a:prstGeom prst="roundRect">
            <a:avLst>
              <a:gd name="adj" fmla="val 12821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0440" y="27889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状態をひとつの箱に保存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11680" y="3502152"/>
            <a:ext cx="0" cy="201168"/>
          </a:xfrm>
          <a:prstGeom prst="line">
            <a:avLst/>
          </a:prstGeom>
          <a:noFill/>
          <a:ln w="2794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8680" y="3703320"/>
            <a:ext cx="2286000" cy="713232"/>
          </a:xfrm>
          <a:prstGeom prst="roundRect">
            <a:avLst>
              <a:gd name="adj" fmla="val 12821"/>
            </a:avLst>
          </a:prstGeom>
          <a:solidFill>
            <a:srgbClr val="C9B3E6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7033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buildDoc()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37560" y="3703320"/>
            <a:ext cx="3749040" cy="713232"/>
          </a:xfrm>
          <a:prstGeom prst="roundRect">
            <a:avLst>
              <a:gd name="adj" fmla="val 12821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20440" y="37033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決まった順に文章化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011680" y="4416552"/>
            <a:ext cx="0" cy="201168"/>
          </a:xfrm>
          <a:prstGeom prst="line">
            <a:avLst/>
          </a:prstGeom>
          <a:noFill/>
          <a:ln w="2794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68680" y="4617720"/>
            <a:ext cx="2286000" cy="713232"/>
          </a:xfrm>
          <a:prstGeom prst="roundRect">
            <a:avLst>
              <a:gd name="adj" fmla="val 12821"/>
            </a:avLst>
          </a:prstGeom>
          <a:solidFill>
            <a:srgbClr val="E87BA4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46177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プレビュー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337560" y="4617720"/>
            <a:ext cx="3749040" cy="713232"/>
          </a:xfrm>
          <a:prstGeom prst="roundRect">
            <a:avLst>
              <a:gd name="adj" fmla="val 12821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20440" y="46177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右に完成文が出る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011680" y="5330952"/>
            <a:ext cx="0" cy="201168"/>
          </a:xfrm>
          <a:prstGeom prst="line">
            <a:avLst/>
          </a:prstGeom>
          <a:noFill/>
          <a:ln w="2794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8680" y="5532120"/>
            <a:ext cx="2286000" cy="713232"/>
          </a:xfrm>
          <a:prstGeom prst="roundRect">
            <a:avLst>
              <a:gd name="adj" fmla="val 12821"/>
            </a:avLst>
          </a:prstGeom>
          <a:solidFill>
            <a:srgbClr val="D14E8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55321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エクスポート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337560" y="5532120"/>
            <a:ext cx="3749040" cy="713232"/>
          </a:xfrm>
          <a:prstGeom prst="roundRect">
            <a:avLst>
              <a:gd name="adj" fmla="val 12821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520440" y="55321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5形式へ保存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13232" y="2231136"/>
            <a:ext cx="0" cy="2743200"/>
          </a:xfrm>
          <a:prstGeom prst="line">
            <a:avLst/>
          </a:prstGeom>
          <a:noFill/>
          <a:ln w="25400">
            <a:solidFill>
              <a:srgbClr val="D14E83"/>
            </a:solidFill>
            <a:prstDash val="dash"/>
            <a:headEnd type="triangle"/>
          </a:ln>
        </p:spPr>
      </p:sp>
      <p:sp>
        <p:nvSpPr>
          <p:cNvPr id="33" name="Text 31"/>
          <p:cNvSpPr/>
          <p:nvPr/>
        </p:nvSpPr>
        <p:spPr>
          <a:xfrm>
            <a:off x="45720" y="3200400"/>
            <a:ext cx="713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入力のたび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作り直す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43800" y="1481328"/>
            <a:ext cx="4142232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7240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ひとつの心臓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72400" y="205740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操作はすべて『状態を書き換える → 全部を作り直す → プレビューを出す』の一定ループ。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543800" y="3931920"/>
            <a:ext cx="4142232" cy="2441448"/>
          </a:xfrm>
          <a:prstGeom prst="roundRect">
            <a:avLst>
              <a:gd name="adj" fmla="val 5993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772400" y="40599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72400" y="4480560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入力した瞬間に右が変わる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空欄のセクションは出力に出ない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状態は1箇所だけ＝バグを追いやすい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658368" cy="658368"/>
          </a:xfrm>
          <a:prstGeom prst="ellipse">
            <a:avLst/>
          </a:prstGeom>
          <a:solidFill>
            <a:srgbClr val="E87BA4"/>
          </a:solidFill>
          <a:ln/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データ駆動設計：型を増やす仕組み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104120" y="64008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C9B3E6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04120" y="6400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3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F2CBDB"/>
            </a:solidFill>
            <a:prstDash val="solid"/>
          </a:ln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0934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“定義”を書くと、UIと出力が自動でついてくる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2286000" cy="3383280"/>
          </a:xfrm>
          <a:prstGeom prst="roundRect">
            <a:avLst>
              <a:gd name="adj" fmla="val 48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2402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定義データ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651760"/>
            <a:ext cx="2011680" cy="585216"/>
          </a:xfrm>
          <a:prstGeom prst="roundRect">
            <a:avLst>
              <a:gd name="adj" fmla="val 15625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265176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VARIANTS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（タイプ一覧）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05840" y="3328416"/>
            <a:ext cx="2011680" cy="585216"/>
          </a:xfrm>
          <a:prstGeom prst="roundRect">
            <a:avLst>
              <a:gd name="adj" fmla="val 15625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332841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（見出し・ねらい）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4005072"/>
            <a:ext cx="2011680" cy="585216"/>
          </a:xfrm>
          <a:prstGeom prst="roundRect">
            <a:avLst>
              <a:gd name="adj" fmla="val 15625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1560" y="400507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FIELDS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（入力項目）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5840" y="4681728"/>
            <a:ext cx="2011680" cy="585216"/>
          </a:xfrm>
          <a:prstGeom prst="roundRect">
            <a:avLst>
              <a:gd name="adj" fmla="val 15625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1560" y="4681728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SAMPLES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（下書き）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3566160"/>
            <a:ext cx="914400" cy="0"/>
          </a:xfrm>
          <a:prstGeom prst="line">
            <a:avLst/>
          </a:prstGeom>
          <a:noFill/>
          <a:ln w="38100">
            <a:solidFill>
              <a:srgbClr val="D14E83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154680" y="3200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自動で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06240" y="23317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8FD4BE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0624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入力フォーム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28803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項目もヒントも自動配置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39319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C9B3E6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06240" y="4069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完成文書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06240" y="4480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3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out指定で見出し／箇条書きに整形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78040" y="1481328"/>
            <a:ext cx="4507992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06640" y="16276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新タイプ追加＝3〜4手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06640" y="210312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VARIANTS に選択肢を1行追加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 に見出しとねらいを追加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FIELDS に項目配列を定義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（任意）SAMPLES に下書きを追加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178040" y="4343400"/>
            <a:ext cx="4507992" cy="2029968"/>
          </a:xfrm>
          <a:prstGeom prst="roundRect">
            <a:avLst>
              <a:gd name="adj" fmla="val 7207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06640" y="44714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中堅の勘どころ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06640" y="4864608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ロジックを書き換えず“データ追記”で機能が増える。専用の文面が要るときだけ専用ビルダーを足す、という住み分けが効率的。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658368" cy="658368"/>
          </a:xfrm>
          <a:prstGeom prst="ellipse">
            <a:avLst/>
          </a:prstGeom>
          <a:solidFill>
            <a:srgbClr val="E87BA4"/>
          </a:solidFill>
          <a:ln/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エクスポート：1つの素から5つの形へ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104120" y="6400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04120" y="6400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F2CBDB"/>
            </a:solidFill>
            <a:prstDash val="solid"/>
          </a:ln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03120" y="3474720"/>
            <a:ext cx="2194560" cy="1005840"/>
          </a:xfrm>
          <a:prstGeom prst="roundRect">
            <a:avLst>
              <a:gd name="adj" fmla="val 14545"/>
            </a:avLst>
          </a:prstGeom>
          <a:solidFill>
            <a:srgbClr val="D14E8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previewToBlocks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103120" y="39136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完成文を構造化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(見出し/リスト/段落)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68680" y="182880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プレビュー本文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74520" y="2377440"/>
            <a:ext cx="960120" cy="1078992"/>
          </a:xfrm>
          <a:prstGeom prst="line">
            <a:avLst/>
          </a:prstGeom>
          <a:noFill/>
          <a:ln w="2794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17720" y="1737360"/>
            <a:ext cx="2240280" cy="731520"/>
          </a:xfrm>
          <a:prstGeom prst="roundRect">
            <a:avLst>
              <a:gd name="adj" fmla="val 125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737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Markdown　</a:t>
            </a:r>
            <a:pPr indent="0" marL="0">
              <a:buNone/>
            </a:pPr>
            <a:r>
              <a:rPr lang="en-US" sz="9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.md・Notion取込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15968" y="3977640"/>
            <a:ext cx="256032" cy="-1874520"/>
          </a:xfrm>
          <a:prstGeom prst="line">
            <a:avLst/>
          </a:prstGeom>
          <a:noFill/>
          <a:ln w="2286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17720" y="2606040"/>
            <a:ext cx="2240280" cy="731520"/>
          </a:xfrm>
          <a:prstGeom prst="roundRect">
            <a:avLst>
              <a:gd name="adj" fmla="val 125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606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　</a:t>
            </a:r>
            <a:pPr indent="0" marL="0">
              <a:buNone/>
            </a:pPr>
            <a:r>
              <a:rPr lang="en-US" sz="9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.doc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15968" y="3977640"/>
            <a:ext cx="256032" cy="-1005840"/>
          </a:xfrm>
          <a:prstGeom prst="line">
            <a:avLst/>
          </a:prstGeom>
          <a:noFill/>
          <a:ln w="2286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617720" y="3474720"/>
            <a:ext cx="2240280" cy="731520"/>
          </a:xfrm>
          <a:prstGeom prst="roundRect">
            <a:avLst>
              <a:gd name="adj" fmla="val 125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　</a:t>
            </a:r>
            <a:pPr indent="0" marL="0">
              <a:buNone/>
            </a:pPr>
            <a:r>
              <a:rPr lang="en-US" sz="9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印刷→保存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15968" y="3977640"/>
            <a:ext cx="256032" cy="-137160"/>
          </a:xfrm>
          <a:prstGeom prst="line">
            <a:avLst/>
          </a:prstGeom>
          <a:noFill/>
          <a:ln w="2286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617720" y="4343400"/>
            <a:ext cx="2240280" cy="731520"/>
          </a:xfrm>
          <a:prstGeom prst="roundRect">
            <a:avLst>
              <a:gd name="adj" fmla="val 125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4343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　</a:t>
            </a:r>
            <a:pPr indent="0" marL="0">
              <a:buNone/>
            </a:pPr>
            <a:r>
              <a:rPr lang="en-US" sz="9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BOM付・文字化けなし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15968" y="3977640"/>
            <a:ext cx="256032" cy="731520"/>
          </a:xfrm>
          <a:prstGeom prst="line">
            <a:avLst/>
          </a:prstGeom>
          <a:noFill/>
          <a:ln w="2286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617720" y="5212080"/>
            <a:ext cx="2240280" cy="731520"/>
          </a:xfrm>
          <a:prstGeom prst="roundRect">
            <a:avLst>
              <a:gd name="adj" fmla="val 125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5212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　</a:t>
            </a:r>
            <a:pPr indent="0" marL="0">
              <a:buNone/>
            </a:pPr>
            <a:r>
              <a:rPr lang="en-US" sz="9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.xls・表形式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315968" y="3977640"/>
            <a:ext cx="256032" cy="1600200"/>
          </a:xfrm>
          <a:prstGeom prst="line">
            <a:avLst/>
          </a:prstGeom>
          <a:noFill/>
          <a:ln w="2286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178040" y="1481328"/>
            <a:ext cx="4507992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06640" y="1627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作り方の美点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06640" y="20574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完成文を一度だけ“ブロック列”に分解し、その共通の素から全形式を作る。だから出力がブレない。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178040" y="4114800"/>
            <a:ext cx="4507992" cy="2258568"/>
          </a:xfrm>
          <a:prstGeom prst="roundRect">
            <a:avLst>
              <a:gd name="adj" fmla="val 6478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06640" y="42428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うれしい配慮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06640" y="466344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CSVはBOM付き→Excelで文字化けしない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外部送信ゼロ（端末内でファイル化）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依存ライブラリなしで動く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658368" cy="658368"/>
          </a:xfrm>
          <a:prstGeom prst="ellipse">
            <a:avLst/>
          </a:prstGeom>
          <a:solidFill>
            <a:srgbClr val="E87BA4"/>
          </a:solidFill>
          <a:ln/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AIサポート：BYOK ＋ 透明性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104120" y="64008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C9B3E6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04120" y="6400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3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104120" y="107899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87BA4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104120" y="10789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SHIFT AI 注目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F2CBDB"/>
            </a:solidFill>
            <a:prstDash val="solid"/>
          </a:ln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87452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1874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ボタンを押す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46120" y="1874520"/>
            <a:ext cx="3840480" cy="731520"/>
          </a:xfrm>
          <a:prstGeom prst="roundRect">
            <a:avLst>
              <a:gd name="adj" fmla="val 125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01568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敬語/短く/長く/字数 から選ぶ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965960" y="2606040"/>
            <a:ext cx="0" cy="155448"/>
          </a:xfrm>
          <a:prstGeom prst="line">
            <a:avLst/>
          </a:prstGeom>
          <a:noFill/>
          <a:ln w="2667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680" y="2761488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E87BA4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276148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入力チェック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246120" y="2761488"/>
            <a:ext cx="3840480" cy="731520"/>
          </a:xfrm>
          <a:prstGeom prst="roundRect">
            <a:avLst>
              <a:gd name="adj" fmla="val 125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01568" y="27614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本文が短い・鍵が空→やさしく中断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965960" y="3493008"/>
            <a:ext cx="0" cy="155448"/>
          </a:xfrm>
          <a:prstGeom prst="line">
            <a:avLst/>
          </a:prstGeom>
          <a:noFill/>
          <a:ln w="2667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8680" y="3648456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C9B3E6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3648456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buildPrompt()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246120" y="3648456"/>
            <a:ext cx="3840480" cy="731520"/>
          </a:xfrm>
          <a:prstGeom prst="roundRect">
            <a:avLst>
              <a:gd name="adj" fmla="val 125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01568" y="364845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指示＋守るルール＋本文 を組む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965960" y="4379976"/>
            <a:ext cx="0" cy="155448"/>
          </a:xfrm>
          <a:prstGeom prst="line">
            <a:avLst/>
          </a:prstGeom>
          <a:noFill/>
          <a:ln w="2667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68680" y="4535424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8FD4BE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453542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fetch 送信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3246120" y="4535424"/>
            <a:ext cx="3840480" cy="731520"/>
          </a:xfrm>
          <a:prstGeom prst="roundRect">
            <a:avLst>
              <a:gd name="adj" fmla="val 125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01568" y="453542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Anthropic API へ（鍵は端末のみ）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965960" y="5266944"/>
            <a:ext cx="0" cy="155448"/>
          </a:xfrm>
          <a:prstGeom prst="line">
            <a:avLst/>
          </a:prstGeom>
          <a:noFill/>
          <a:ln w="2667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68680" y="5422392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D14E8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14400" y="542239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結果を表示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3246120" y="5422392"/>
            <a:ext cx="3840480" cy="731520"/>
          </a:xfrm>
          <a:prstGeom prst="roundRect">
            <a:avLst>
              <a:gd name="adj" fmla="val 125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01568" y="542239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別枠に。コピー／.txt保存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178040" y="1481328"/>
            <a:ext cx="4507992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06640" y="16276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 “任意” が大原則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06640" y="2121408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任意：AIが無くても作成・保存は動く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透明：送る内容をその場で開示できる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確認：生成物は必ず人が目視チェック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実名NG・数字や固有名は変えない指示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178040" y="4343400"/>
            <a:ext cx="4507992" cy="2029968"/>
          </a:xfrm>
          <a:prstGeom prst="roundRect">
            <a:avLst>
              <a:gd name="adj" fmla="val 7207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406640" y="44714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BYOK（鍵は自分で）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06640" y="4864608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利用者が自分のAPIキーをその場で入力。保存せずリロードで消える設計で、鍵の流出リスクを抑えています。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658368" cy="658368"/>
          </a:xfrm>
          <a:prstGeom prst="ellipse">
            <a:avLst/>
          </a:prstGeom>
          <a:solidFill>
            <a:srgbClr val="E87BA4"/>
          </a:solidFill>
          <a:ln/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安全に使う：プライバシー設計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104120" y="6400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04120" y="6400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F2CBDB"/>
            </a:solidFill>
            <a:prstDash val="solid"/>
          </a:ln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920240"/>
            <a:ext cx="3200400" cy="4023360"/>
          </a:xfrm>
          <a:prstGeom prst="roundRect">
            <a:avLst>
              <a:gd name="adj" fmla="val 4571"/>
            </a:avLst>
          </a:prstGeom>
          <a:solidFill>
            <a:srgbClr val="FCE9F0"/>
          </a:solidFill>
          <a:ln w="25400">
            <a:solidFill>
              <a:srgbClr val="8FD4B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68680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あなたの端末の中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251460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43000" y="25146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入力した文章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97280" y="3227832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32278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プレビュー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97280" y="3941064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39410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保存ファイル生成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97280" y="4654296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43000" y="46542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APIキー（非保存）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3108960"/>
            <a:ext cx="2011680" cy="1737360"/>
          </a:xfrm>
          <a:prstGeom prst="roundRect">
            <a:avLst>
              <a:gd name="adj" fmla="val 7368"/>
            </a:avLst>
          </a:prstGeom>
          <a:solidFill>
            <a:srgbClr val="FBE3EC"/>
          </a:solidFill>
          <a:ln w="19050">
            <a:solidFill>
              <a:srgbClr val="D14E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2004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46320" y="35661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Anthropic API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（AI使用時のみ）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9080" y="3840480"/>
            <a:ext cx="777240" cy="0"/>
          </a:xfrm>
          <a:prstGeom prst="line">
            <a:avLst/>
          </a:prstGeom>
          <a:noFill/>
          <a:ln w="27940">
            <a:solidFill>
              <a:srgbClr val="D14E83"/>
            </a:solidFill>
            <a:prstDash val="dash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023360" y="39319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AI使用時だけ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本文を送信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78040" y="1481328"/>
            <a:ext cx="4507992" cy="4892040"/>
          </a:xfrm>
          <a:prstGeom prst="roundRect">
            <a:avLst>
              <a:gd name="adj" fmla="val 32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06640" y="16459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4つの約束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406640" y="214884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87BA4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52360" y="214884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46720" y="21031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実名・機密は書かない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同僚は役職名で。顧客名・IDも避ける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406640" y="318211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87BA4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52360" y="318211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046720" y="3136392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入力は端末内のみ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保存（localStorage）は持たない設計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406640" y="421538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87BA4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52360" y="421538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046720" y="4169664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鍵は保存しない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その場入力・リロードで消える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7406640" y="524865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87BA4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52360" y="524865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046720" y="5202936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生成物は目視確認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提出・公開の前に必ず人の目で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658368" cy="658368"/>
          </a:xfrm>
          <a:prstGeom prst="ellipse">
            <a:avLst/>
          </a:prstGeom>
          <a:solidFill>
            <a:srgbClr val="E87BA4"/>
          </a:solidFill>
          <a:ln/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新人まとめ：たった3手でできる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104120" y="64008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8FD4BE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04120" y="6400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766560" cy="489204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F2CBDB"/>
            </a:solidFill>
            <a:prstDash val="solid"/>
          </a:ln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24028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2402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783080" y="2240280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65960" y="2240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えらぶ　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タブで報告書／手順書を選び、プルダウンで種類を選ぶ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34440" y="2971800"/>
            <a:ext cx="0" cy="228600"/>
          </a:xfrm>
          <a:prstGeom prst="line">
            <a:avLst/>
          </a:prstGeom>
          <a:noFill/>
          <a:ln w="2921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68680" y="32004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E87BA4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2004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783080" y="3200400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65960" y="32004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かく　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項目に書き込む。ヒントを見ながら、空欄は飛ばしてOK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34440" y="3931920"/>
            <a:ext cx="0" cy="228600"/>
          </a:xfrm>
          <a:prstGeom prst="line">
            <a:avLst/>
          </a:prstGeom>
          <a:noFill/>
          <a:ln w="29210">
            <a:solidFill>
              <a:srgbClr val="E87BA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8680" y="416052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8FD4BE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1605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783080" y="4160520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965960" y="4160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だす　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右のプレビューを確認→「保存」でWord・PDF等に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5806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まずは「例を入れる」で完成形を眺めるのがおすすめ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43800" y="1481328"/>
            <a:ext cx="4142232" cy="4892040"/>
          </a:xfrm>
          <a:prstGeom prst="roundRect">
            <a:avLst>
              <a:gd name="adj" fmla="val 3532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0" y="1645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覚えておくこと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772400" y="2148840"/>
            <a:ext cx="3703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完璧じゃなくていい。空欄は飛ばせる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ヒント（うさぎ）が“なぜ書くか”を教えてくれる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結論を先に書くと、上司が1行目で判断できる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数字を入れると説得力が出る（出席18/18 など）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実名は書かない。同僚は役職名で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658368" cy="658368"/>
          </a:xfrm>
          <a:prstGeom prst="ellipse">
            <a:avLst/>
          </a:prstGeom>
          <a:solidFill>
            <a:srgbClr val="E87BA4"/>
          </a:solidFill>
          <a:ln/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中堅：設計判断とトレードオフ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104120" y="64008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C9B3E6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04120" y="6400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3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F2CBDB"/>
            </a:solidFill>
            <a:prstDash val="solid"/>
          </a:ln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2763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選んだこと</a:t>
            </a:r>
            <a:pPr indent="0" marL="0">
              <a:buNone/>
            </a:pPr>
            <a:r>
              <a:rPr lang="en-US" sz="11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／　◎ 得たもの　・　△ 引き換え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2057400"/>
            <a:ext cx="5943600" cy="768096"/>
          </a:xfrm>
          <a:prstGeom prst="roundRect">
            <a:avLst>
              <a:gd name="adj" fmla="val 11905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2057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単一HTML・依存ゼロ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0939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</a:t>
            </a:r>
            <a:pPr indent="0" marL="0">
              <a:buNone/>
            </a:pPr>
            <a:r>
              <a:rPr lang="en-US" sz="1050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配布・監査・オフラインが楽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2441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</a:t>
            </a:r>
            <a:pPr indent="0" marL="0">
              <a:buNone/>
            </a:pPr>
            <a:r>
              <a:rPr lang="en-US" sz="1050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分割やテスト導入はしにくい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2898648"/>
            <a:ext cx="5943600" cy="768096"/>
          </a:xfrm>
          <a:prstGeom prst="roundRect">
            <a:avLst>
              <a:gd name="adj" fmla="val 11905"/>
            </a:avLst>
          </a:prstGeom>
          <a:solidFill>
            <a:srgbClr val="FFF4F8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289864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データ駆動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9352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</a:t>
            </a:r>
            <a:pPr indent="0" marL="0">
              <a:buNone/>
            </a:pPr>
            <a:r>
              <a:rPr lang="en-US" sz="1050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タイプ追加が低コスト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0" y="32826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</a:t>
            </a:r>
            <a:pPr indent="0" marL="0">
              <a:buNone/>
            </a:pPr>
            <a:r>
              <a:rPr lang="en-US" sz="1050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定義スキーマの暗黙仕様が増える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3739896"/>
            <a:ext cx="5943600" cy="768096"/>
          </a:xfrm>
          <a:prstGeom prst="roundRect">
            <a:avLst>
              <a:gd name="adj" fmla="val 11905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373989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全再描画方式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776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</a:t>
            </a:r>
            <a:pPr indent="0" marL="0">
              <a:buNone/>
            </a:pPr>
            <a:r>
              <a:rPr lang="en-US" sz="1050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状態整合がシンプル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0" y="41239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</a:t>
            </a:r>
            <a:pPr indent="0" marL="0">
              <a:buNone/>
            </a:pPr>
            <a:r>
              <a:rPr lang="en-US" sz="1050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大規模化で再描画コスト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4581144"/>
            <a:ext cx="5943600" cy="768096"/>
          </a:xfrm>
          <a:prstGeom prst="roundRect">
            <a:avLst>
              <a:gd name="adj" fmla="val 11905"/>
            </a:avLst>
          </a:prstGeom>
          <a:solidFill>
            <a:srgbClr val="FFF4F8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458114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BYOK＋ブラウザ直送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</a:t>
            </a:r>
            <a:pPr indent="0" marL="0">
              <a:buNone/>
            </a:pPr>
            <a:r>
              <a:rPr lang="en-US" sz="1050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サーバーレス・鍵を預からない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17520" y="4965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</a:t>
            </a:r>
            <a:pPr indent="0" marL="0">
              <a:buNone/>
            </a:pPr>
            <a:r>
              <a:rPr lang="en-US" sz="1050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周知（直送ヘッダ）が必須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68680" y="5422392"/>
            <a:ext cx="5943600" cy="768096"/>
          </a:xfrm>
          <a:prstGeom prst="roundRect">
            <a:avLst>
              <a:gd name="adj" fmla="val 11905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5840" y="5422392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Word/Excel＝HTML方式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17520" y="5458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</a:t>
            </a:r>
            <a:pPr indent="0" marL="0">
              <a:buNone/>
            </a:pPr>
            <a:r>
              <a:rPr lang="en-US" sz="1050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依存なしで互換確保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17520" y="5806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</a:t>
            </a:r>
            <a:pPr indent="0" marL="0">
              <a:buNone/>
            </a:pPr>
            <a:r>
              <a:rPr lang="en-US" sz="1050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厳密なOOXMLではない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78040" y="1481328"/>
            <a:ext cx="4507992" cy="4892040"/>
          </a:xfrm>
          <a:prstGeom prst="roundRect">
            <a:avLst>
              <a:gd name="adj" fmla="val 32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06640" y="16459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読み方の軸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406640" y="2121408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「何を捨てて何を得たか」を言語化できると、改修やレビューでブレない判断ができます。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06640" y="3200400"/>
            <a:ext cx="4069080" cy="3017520"/>
          </a:xfrm>
          <a:prstGeom prst="roundRect">
            <a:avLst>
              <a:gd name="adj" fmla="val 3636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589520" y="3310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3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改善余地（負債候補）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0" y="370332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出力ロジックのユニットテスト外部化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CSSの3重定義を最終テーマへ一本化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i18n（文言を定義から分離）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AI失敗の原因別エラー表示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CSPメタタグで外部通信を更に抑止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658368" cy="658368"/>
          </a:xfrm>
          <a:prstGeom prst="ellipse">
            <a:avLst/>
          </a:prstGeom>
          <a:solidFill>
            <a:srgbClr val="E87BA4"/>
          </a:solidFill>
          <a:ln/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拡張ハンズオン：新タイプを足す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104120" y="64008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C9B3E6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04120" y="6400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3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104120" y="107899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104120" y="10789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講師パート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F2CBDB"/>
            </a:solidFill>
            <a:prstDash val="solid"/>
          </a:ln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60934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お題：報告書に「日報（簡易）」タイプを足す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2148840"/>
            <a:ext cx="603504" cy="841248"/>
          </a:xfrm>
          <a:prstGeom prst="roundRect">
            <a:avLst>
              <a:gd name="adj" fmla="val 18182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148840"/>
            <a:ext cx="512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627632" y="2148840"/>
            <a:ext cx="5166360" cy="841248"/>
          </a:xfrm>
          <a:prstGeom prst="roundRect">
            <a:avLst>
              <a:gd name="adj" fmla="val 1087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83080" y="214884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VARIANTS.report に追加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{v:"nippo", label:"日報（簡易）"}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099816"/>
            <a:ext cx="603504" cy="841248"/>
          </a:xfrm>
          <a:prstGeom prst="roundRect">
            <a:avLst>
              <a:gd name="adj" fmla="val 18182"/>
            </a:avLst>
          </a:prstGeom>
          <a:solidFill>
            <a:srgbClr val="E87BA4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099816"/>
            <a:ext cx="512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627632" y="3099816"/>
            <a:ext cx="5166360" cy="841248"/>
          </a:xfrm>
          <a:prstGeom prst="roundRect">
            <a:avLst>
              <a:gd name="adj" fmla="val 1087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783080" y="3099816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 に見出し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{title:"日報", aim:"今日の要点を3行で"}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4050792"/>
            <a:ext cx="603504" cy="841248"/>
          </a:xfrm>
          <a:prstGeom prst="roundRect">
            <a:avLst>
              <a:gd name="adj" fmla="val 18182"/>
            </a:avLst>
          </a:prstGeom>
          <a:solidFill>
            <a:srgbClr val="C9B3E6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050792"/>
            <a:ext cx="512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27632" y="4050792"/>
            <a:ext cx="5166360" cy="841248"/>
          </a:xfrm>
          <a:prstGeom prst="roundRect">
            <a:avLst>
              <a:gd name="adj" fmla="val 1087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783080" y="4050792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FIELDS に項目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件名 / やったこと / 所感 / 明日 …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8680" y="5001768"/>
            <a:ext cx="603504" cy="841248"/>
          </a:xfrm>
          <a:prstGeom prst="roundRect">
            <a:avLst>
              <a:gd name="adj" fmla="val 18182"/>
            </a:avLst>
          </a:prstGeom>
          <a:solidFill>
            <a:srgbClr val="8FD4BE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5001768"/>
            <a:ext cx="512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627632" y="5001768"/>
            <a:ext cx="5166360" cy="841248"/>
          </a:xfrm>
          <a:prstGeom prst="roundRect">
            <a:avLst>
              <a:gd name="adj" fmla="val 1087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783080" y="5001768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（任意）SAMPLES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下書きを用意して「例を入れる」対応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78040" y="1481328"/>
            <a:ext cx="4507992" cy="2788920"/>
          </a:xfrm>
          <a:prstGeom prst="roundRect">
            <a:avLst>
              <a:gd name="adj" fmla="val 4590"/>
            </a:avLst>
          </a:prstGeom>
          <a:solidFill>
            <a:srgbClr val="3A2A3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06640" y="160934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イメージ（擬似コード）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06640" y="2011680"/>
            <a:ext cx="4114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D9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VARIANTS.report.push(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{v:"nippo", label:"日報（簡易）"});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D9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META.report.nippo =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{title:"日報", aim:"3行で"};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FIELDS.report.nippo = [ …項目… ];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78040" y="4434840"/>
            <a:ext cx="4507992" cy="1938528"/>
          </a:xfrm>
          <a:prstGeom prst="roundRect">
            <a:avLst>
              <a:gd name="adj" fmla="val 7547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06640" y="45537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確認ポイント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406640" y="49377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ロジック（build*）は触っていない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out 指定だけで汎用整形に乗る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切替で消えない・空欄は出ない を確認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658368" cy="658368"/>
          </a:xfrm>
          <a:prstGeom prst="ellipse">
            <a:avLst/>
          </a:prstGeom>
          <a:solidFill>
            <a:srgbClr val="E87BA4"/>
          </a:solidFill>
          <a:ln/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ミニワーク（5分）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104120" y="6400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04120" y="6400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講師パート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F2CBDB"/>
            </a:solidFill>
            <a:prstDash val="solid"/>
          </a:ln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874520"/>
            <a:ext cx="1280160" cy="1280160"/>
          </a:xfrm>
          <a:prstGeom prst="roundRect">
            <a:avLst>
              <a:gd name="adj" fmla="val 14286"/>
            </a:avLst>
          </a:prstGeom>
          <a:solidFill>
            <a:srgbClr val="E87BA4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87452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6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31720" y="187452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19659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ペア or 個人で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14600" y="22860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自分の業務で「テンプレ化したい文書」を1つ選び、必要な項目を3〜5個、紙か付箋に書き出す。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3383280"/>
            <a:ext cx="548640" cy="731520"/>
          </a:xfrm>
          <a:prstGeom prst="roundRect">
            <a:avLst>
              <a:gd name="adj" fmla="val 20000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3832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3383280"/>
            <a:ext cx="52578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37360" y="33832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対象を選ぶ　</a:t>
            </a:r>
            <a:pPr indent="0" marL="0">
              <a:buNone/>
            </a:pPr>
            <a:r>
              <a:rPr lang="en-US" sz="11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日報 / 議事録 / 障害報告 など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224528"/>
            <a:ext cx="548640" cy="731520"/>
          </a:xfrm>
          <a:prstGeom prst="roundRect">
            <a:avLst>
              <a:gd name="adj" fmla="val 20000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22452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54480" y="4224528"/>
            <a:ext cx="52578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737360" y="42245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項目を書く　</a:t>
            </a:r>
            <a:pPr indent="0" marL="0">
              <a:buNone/>
            </a:pPr>
            <a:r>
              <a:rPr lang="en-US" sz="11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件名・結論・事実・数値・今後…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5065776"/>
            <a:ext cx="548640" cy="731520"/>
          </a:xfrm>
          <a:prstGeom prst="roundRect">
            <a:avLst>
              <a:gd name="adj" fmla="val 20000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506577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6E521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54480" y="5065776"/>
            <a:ext cx="52578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737360" y="506577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ねらいを一言　</a:t>
            </a:r>
            <a:pPr indent="0" marL="0">
              <a:buNone/>
            </a:pPr>
            <a:r>
              <a:rPr lang="en-US" sz="11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なぜ書くか＝ヒント文を考える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78040" y="1481328"/>
            <a:ext cx="4507992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06640" y="1627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ねらい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06640" y="205740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「このツールに足すなら？」を自分ごとにする時間。今日の“データ駆動＝項目＋ねらいの設計”を体験します。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78040" y="4114800"/>
            <a:ext cx="4507992" cy="2258568"/>
          </a:xfrm>
          <a:prstGeom prst="roundRect">
            <a:avLst>
              <a:gd name="adj" fmla="val 6478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06640" y="42428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共有（任意）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06640" y="466344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1〜2名に項目を発表してもらう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“ねらい”が言えているかを全員で確認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良い項目はそのまま実装候補に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658368" cy="658368"/>
          </a:xfrm>
          <a:prstGeom prst="ellipse">
            <a:avLst/>
          </a:prstGeom>
          <a:solidFill>
            <a:srgbClr val="E87BA4"/>
          </a:solidFill>
          <a:ln/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持ち帰り ＆ 参考資料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104120" y="6400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04120" y="6400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F2CBDB"/>
            </a:solidFill>
            <a:prstDash val="solid"/>
          </a:ln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276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きょうの3つの持ち帰り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1945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4CE73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572768" y="2194560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37360" y="2194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全体像は“ラーメン店モデル”で説明できる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294436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87BA4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9443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572768" y="2944368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737360" y="29443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データ駆動なら、型の追加は数手で済む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369417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8FD4BE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36941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572768" y="3694176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37360" y="36941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AIは任意・透明・人の確認、がAI活用の作法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5897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つくって、つかって、また直す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78040" y="1481328"/>
            <a:ext cx="4507992" cy="4892040"/>
          </a:xfrm>
          <a:prstGeom prst="roundRect">
            <a:avLst>
              <a:gd name="adj" fmla="val 32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06640" y="16459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参考資料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06640" y="2148840"/>
            <a:ext cx="4069080" cy="621792"/>
          </a:xfrm>
          <a:prstGeom prst="roundRect">
            <a:avLst>
              <a:gd name="adj" fmla="val 14706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89520" y="214884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MDN：Fetch / Blob / CORS
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ブラウザAPIの一次情報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06640" y="2843784"/>
            <a:ext cx="4069080" cy="621792"/>
          </a:xfrm>
          <a:prstGeom prst="roundRect">
            <a:avLst>
              <a:gd name="adj" fmla="val 14706"/>
            </a:avLst>
          </a:prstGeom>
          <a:solidFill>
            <a:srgbClr val="FFF4F8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89520" y="284378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MDN：CSSカスタムプロパティ
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テーマ設計の基礎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06640" y="3538728"/>
            <a:ext cx="4069080" cy="621792"/>
          </a:xfrm>
          <a:prstGeom prst="roundRect">
            <a:avLst>
              <a:gd name="adj" fmla="val 14706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89520" y="353872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Anthropic Messages API
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AI連携の公式ドキュメント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06640" y="4233672"/>
            <a:ext cx="4069080" cy="621792"/>
          </a:xfrm>
          <a:prstGeom prst="roundRect">
            <a:avLst>
              <a:gd name="adj" fmla="val 14706"/>
            </a:avLst>
          </a:prstGeom>
          <a:solidFill>
            <a:srgbClr val="FFF4F8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89520" y="423367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“direct browser access” 解説
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BYOK・CORS直送の注意点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06640" y="4928616"/>
            <a:ext cx="4069080" cy="621792"/>
          </a:xfrm>
          <a:prstGeom prst="roundRect">
            <a:avLst>
              <a:gd name="adj" fmla="val 14706"/>
            </a:avLst>
          </a:prstGeom>
          <a:solidFill>
            <a:srgbClr val="FCE9F0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589520" y="492861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ISO 9001（手順書の考え方）
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目的→範囲→責任→手順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06640" y="5623560"/>
            <a:ext cx="4069080" cy="621792"/>
          </a:xfrm>
          <a:prstGeom prst="roundRect">
            <a:avLst>
              <a:gd name="adj" fmla="val 14706"/>
            </a:avLst>
          </a:prstGeom>
          <a:solidFill>
            <a:srgbClr val="FFF4F8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89520" y="56235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本ツール設計書（うさうさ研修工房）
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要件・詳細設計の全文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7B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08792" cy="5577840"/>
          </a:xfrm>
          <a:prstGeom prst="roundRect">
            <a:avLst>
              <a:gd name="adj" fmla="val 6557"/>
            </a:avLst>
          </a:prstGeom>
          <a:solidFill>
            <a:srgbClr val="FFF4F8"/>
          </a:solidFill>
          <a:ln/>
          <a:effectLst>
            <a:outerShdw sx="100000" sy="100000" kx="0" ky="0" algn="bl" rotWithShape="0" blurRad="114300" dist="38100" dir="5400000">
              <a:srgbClr val="D88FAE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71600" y="224028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14E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ありがとうございました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1546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 &amp; A　―　つくって、つかって、また直す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578815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C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0" y="4187952"/>
            <a:ext cx="5422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A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　石黒（うさうさ先生）
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947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面白きこともなき世を面白く（高杉晋作）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報告書＆手順書ファクトリー PRO 勉強会</dc:title>
  <dc:subject>PptxGenJS Presentation</dc:subject>
  <dc:creator>石黒（うさうさ先生）</dc:creator>
  <cp:lastModifiedBy>石黒（うさうさ先生）</cp:lastModifiedBy>
  <cp:revision>1</cp:revision>
  <dcterms:created xsi:type="dcterms:W3CDTF">2026-06-10T23:58:27Z</dcterms:created>
  <dcterms:modified xsi:type="dcterms:W3CDTF">2026-06-10T23:58:27Z</dcterms:modified>
</cp:coreProperties>
</file>