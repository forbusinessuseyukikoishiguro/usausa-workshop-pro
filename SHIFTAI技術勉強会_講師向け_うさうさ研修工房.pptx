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講師用の表紙。受講生デッキと並べて使う進行台本・想定Q&amp;A・準備チェックを収録。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ガイドの使い方とセッション概要。投影は受講生デッキ、手元は本ガイド。所要60分の内訳を共有。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タイムテーブル。押したときの優先順位（5と8を死守、10は圧縮）を頭に入れておく。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準備チェック。特にオフラインデモと、鍵を保存しない点の実演準備。通知OFF徹底。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台本①。導入でAI=任意を宣言。3でライブデモ1件。4で単方向の地図を渡す。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台本②。5は保守性の核、8がSHIFT AIの見どころ。AI回はBYOK/透明性/目視確認を丁寧に。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台本③。9で安心感、10で要点（深掘りは別研修へ）、11で行動喚起とQ&amp;A。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デモ手順。短い入力で素早く完成を見せる。AIは任意。失敗時は“本体は動く”を強調材料に。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想定Q&amp;A。すべて事実ベースで回答。Word=HTML保存方式、鍵=非保存BYOK、オフライン=外部送信はAI時のみ、を押さえる。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トラブル対応。多くは仕様（非永続・HTML保存）。落ち着いて仕様を説明し進行を止めない。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クロージング。持ち帰り再確認＋次の一歩＋深掘り研修への橋渡し。アンケート・質問チャンネルを案内。講師は振り返りメモを。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6A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3279"/>
            </a:avLst>
          </a:prstGeom>
          <a:solidFill>
            <a:srgbClr val="FBF5F3"/>
          </a:solidFill>
          <a:ln/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7280" y="2331720"/>
            <a:ext cx="2011680" cy="0"/>
          </a:xfrm>
          <a:prstGeom prst="line">
            <a:avLst/>
          </a:prstGeom>
          <a:noFill/>
          <a:ln w="19050">
            <a:solidFill>
              <a:srgbClr val="C2A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AI 技術勉強会　講師資料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514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ファシリテーション・ガイド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「AIを“任意”で組み込む実務ツールの設計」を進めるために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43484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434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対象：登壇講師・サブ講師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44348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4EDD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4434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受講生デッキと併用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石黒（うさうさ先生）　／　2026-06-11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このガイドの使い方とセッション概要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このガイドの構成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タイムテーブル（時間配分）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事前準備チェックリスト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進行台本①〜③（スライド別の狙い・話す内容）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デモ／想定質問／トラブル対応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クロージングとフォローアップ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251960"/>
            <a:ext cx="5074920" cy="1508760"/>
          </a:xfrm>
          <a:prstGeom prst="roundRect">
            <a:avLst>
              <a:gd name="adj" fmla="val 5455"/>
            </a:avLst>
          </a:prstGeom>
          <a:solidFill>
            <a:srgbClr val="FBF5F3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361688"/>
            <a:ext cx="54864" cy="1289304"/>
          </a:xfrm>
          <a:prstGeom prst="rect">
            <a:avLst/>
          </a:prstGeom>
          <a:solidFill>
            <a:srgbClr val="8B7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436168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使い方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14984" y="4764024"/>
            <a:ext cx="46542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受講生デッキを投影し、本ガイドは手元（ノートPC/印刷）で参照。スライド番号が対応しています。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51383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セッション概要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1097280" cy="640080"/>
          </a:xfrm>
          <a:prstGeom prst="roundRect">
            <a:avLst>
              <a:gd name="adj" fmla="val 12857"/>
            </a:avLst>
          </a:prstGeom>
          <a:solidFill>
            <a:srgbClr val="EFE7EE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実務ツールを自作したい受講生（初級〜中級）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2670048"/>
            <a:ext cx="1097280" cy="640080"/>
          </a:xfrm>
          <a:prstGeom prst="roundRect">
            <a:avLst>
              <a:gd name="adj" fmla="val 12857"/>
            </a:avLst>
          </a:prstGeom>
          <a:solidFill>
            <a:srgbClr val="EFE7EE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6700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35240" y="26700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約60分（講義45分＋Q&amp;A・演習15分）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3419856"/>
            <a:ext cx="1097280" cy="640080"/>
          </a:xfrm>
          <a:prstGeom prst="roundRect">
            <a:avLst>
              <a:gd name="adj" fmla="val 12857"/>
            </a:avLst>
          </a:prstGeom>
          <a:solidFill>
            <a:srgbClr val="EFE7EE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41985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34198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データ駆動設計／5形式出力／AIを任意・透明に組み込む作法を理解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169664"/>
            <a:ext cx="1097280" cy="640080"/>
          </a:xfrm>
          <a:prstGeom prst="roundRect">
            <a:avLst>
              <a:gd name="adj" fmla="val 12857"/>
            </a:avLst>
          </a:prstGeom>
          <a:solidFill>
            <a:srgbClr val="EFE7EE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16966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35240" y="41696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受講生：PC（任意でブラウザ）。鍵入力は任意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4919472"/>
            <a:ext cx="1097280" cy="640080"/>
          </a:xfrm>
          <a:prstGeom prst="roundRect">
            <a:avLst>
              <a:gd name="adj" fmla="val 12857"/>
            </a:avLst>
          </a:prstGeom>
          <a:solidFill>
            <a:srgbClr val="EFE7EE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91947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4919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Webの基礎を少し触ったことがあればOK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タイムテーブル（目安）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600200"/>
            <a:ext cx="137160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1600200"/>
            <a:ext cx="484632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6002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600200"/>
            <a:ext cx="146304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600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1600200"/>
            <a:ext cx="274320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6002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講師の重点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020824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0756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0:00–0:05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240280" y="2020824"/>
            <a:ext cx="4846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0008" y="207568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導入・テーマとゴール（受講生 1–2）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086600" y="2020824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20756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549640" y="202082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9368" y="20756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AI=任意を最初に宣言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68680" y="2587752"/>
            <a:ext cx="137160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26426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0:05–0:15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240280" y="2587752"/>
            <a:ext cx="484632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0008" y="264261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ツール紹介・全体アーキテクチャ（3–4）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086600" y="2587752"/>
            <a:ext cx="146304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26426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講義＋デモ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549640" y="2587752"/>
            <a:ext cx="274320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9368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“一本道”を体感させる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68680" y="315468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32095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0:15–0:28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2240280" y="3154680"/>
            <a:ext cx="4846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0008" y="320954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データ駆動・状態管理（5–6）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086600" y="315468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6328" y="320954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8549640" y="315468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59368" y="32095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型追加=データ追記を強調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68680" y="3721608"/>
            <a:ext cx="137160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" y="37764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0:28–0:38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2240280" y="3721608"/>
            <a:ext cx="484632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0008" y="37764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エクスポート・AIサポート（7–8）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7086600" y="3721608"/>
            <a:ext cx="146304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96328" y="37764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講義＋デモ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549640" y="3721608"/>
            <a:ext cx="274320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9368" y="3776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BYOK/透明性が見どころ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868680" y="428853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" y="4343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0:38–0:45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2240280" y="4288536"/>
            <a:ext cx="4846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50008" y="43434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安全に使う設計・保守可読の学び（9–10）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7086600" y="428853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96328" y="43434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8549640" y="42885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9368" y="43434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実名NG・目視確認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868680" y="4855464"/>
            <a:ext cx="137160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8408" y="49103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0:45–0:60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2240280" y="4855464"/>
            <a:ext cx="484632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50008" y="49103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まとめ・Q&amp;A（11）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7086600" y="4855464"/>
            <a:ext cx="146304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96328" y="49103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対話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8549640" y="4855464"/>
            <a:ext cx="2743200" cy="56692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59368" y="4910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持ち帰り3つ＋次の一歩</a:t>
            </a:r>
            <a:endParaRPr lang="en-US" sz="1080" dirty="0"/>
          </a:p>
        </p:txBody>
      </p:sp>
      <p:sp>
        <p:nvSpPr>
          <p:cNvPr id="64" name="Text 62"/>
          <p:cNvSpPr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進行が押した場合は「データ駆動（5）」と「AIサポート（8）」を優先し、保守可読（10）は要点のみに圧縮。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事前準備チェックリスト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投影：受講生デッキを全画面表示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ツール本体（HTML）をブラウザで開く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オフライン動作の確認（機内モードでデモ）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AIデモ用：自分のAPIキーを用意（任意）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予備回線／オフライン代替を準備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資料・教材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受講生デッキ（投影用）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本ガイド（手元・印刷 or 別画面）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デモ用サンプル入力を1件用意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参考リンク（MDN／Anthropic）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アンケート／フォロー先URL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547872" cy="4572000"/>
          </a:xfrm>
          <a:prstGeom prst="roundRect">
            <a:avLst>
              <a:gd name="adj" fmla="val 2577"/>
            </a:avLst>
          </a:prstGeom>
          <a:solidFill>
            <a:srgbClr val="EFE7EE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当日5分前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18745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画面共有・音声テスト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通知OFF・余計なタブを閉じる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ツールを初期状態に戻す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鍵欄は空＝保存しない旨を確認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Q&amp;A用メモ／タイマー準備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572000"/>
            <a:ext cx="3547872" cy="1188720"/>
          </a:xfrm>
          <a:prstGeom prst="roundRect">
            <a:avLst>
              <a:gd name="adj" fmla="val 6923"/>
            </a:avLst>
          </a:prstGeom>
          <a:solidFill>
            <a:srgbClr val="F7E7E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4681728"/>
            <a:ext cx="54864" cy="969264"/>
          </a:xfrm>
          <a:prstGeom prst="rect">
            <a:avLst/>
          </a:prstGeom>
          <a:solidFill>
            <a:srgbClr val="C07A72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468172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3F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75904" y="5084064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AIデモ時は実名・機密を入力しない。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6A8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進行台本：導入〜全体アーキテクチャ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572768"/>
            <a:ext cx="118872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72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57400" y="1572768"/>
            <a:ext cx="91440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572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1572768"/>
            <a:ext cx="310896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72768"/>
            <a:ext cx="329184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話すこと（キーメッセージ）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72600" y="1572768"/>
            <a:ext cx="219456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板書・強調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2029968"/>
            <a:ext cx="1188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08483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ゴール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57400" y="2029968"/>
            <a:ext cx="914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7128" y="208483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71800" y="2029968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208483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今日の背骨を共有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029968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08483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「AIは“任意”。無くても本体は動く」を最初に宣言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72600" y="2029968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82328" y="208483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AI=任意 と板書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3081528"/>
            <a:ext cx="118872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313639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これは何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57400" y="3081528"/>
            <a:ext cx="91440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67128" y="313639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71800" y="3081528"/>
            <a:ext cx="310896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1528" y="31363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完成像を掴ませる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80760" y="3081528"/>
            <a:ext cx="329184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13639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左に書く→右に完成→下で保存。デモで1件作る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72600" y="3081528"/>
            <a:ext cx="219456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82328" y="313639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3エリアを指差し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8680" y="4133088"/>
            <a:ext cx="1188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418795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アーキ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57400" y="4133088"/>
            <a:ext cx="914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67128" y="418795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971800" y="4133088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1528" y="418795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全体の地図を渡す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0760" y="4133088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418795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定義→状態→描画→生成→出力の単方向。下ほど土台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372600" y="4133088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82328" y="418795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“一本道”と強調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6A8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進行台本：データ駆動〜AIサポート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572768"/>
            <a:ext cx="118872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72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57400" y="1572768"/>
            <a:ext cx="91440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572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1572768"/>
            <a:ext cx="310896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72768"/>
            <a:ext cx="329184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話すこと（キーメッセージ）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72600" y="1572768"/>
            <a:ext cx="219456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板書・強調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2029968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084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データ駆動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057400" y="2029968"/>
            <a:ext cx="914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7128" y="2084832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971800" y="2029968"/>
            <a:ext cx="3108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208483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保守性の核を伝える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080760" y="2029968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08483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型を増やすのは“分岐”でなく“データ追記”。3〜4手で完結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372600" y="2029968"/>
            <a:ext cx="2194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82328" y="208483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VARIANTS→META→FIELDS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68680" y="2871216"/>
            <a:ext cx="118872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2926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状態/ループ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057400" y="2871216"/>
            <a:ext cx="91440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67128" y="29260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2971800" y="2871216"/>
            <a:ext cx="310896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1528" y="2926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単一情報源を体感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080760" y="2871216"/>
            <a:ext cx="329184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9260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値はstoreの1か所。打つたび全再描画→即反映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372600" y="2871216"/>
            <a:ext cx="219456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82328" y="29260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store=1か所 と板書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68680" y="3712464"/>
            <a:ext cx="1188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76732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出力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2057400" y="3712464"/>
            <a:ext cx="914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67128" y="3767328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2971800" y="3712464"/>
            <a:ext cx="3108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1528" y="376732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DRYの効用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080760" y="3712464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376732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共通の素(previewToBlocks)から5形式。CSVのBOMで文字化け回避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9372600" y="3712464"/>
            <a:ext cx="2194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82328" y="376732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1→5の図を指す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68680" y="4553712"/>
            <a:ext cx="118872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" y="460857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AI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2057400" y="4553712"/>
            <a:ext cx="91440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67128" y="4608576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6分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2971800" y="4553712"/>
            <a:ext cx="310896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81528" y="460857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AI見どころ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6080760" y="4553712"/>
            <a:ext cx="329184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460857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任意・透明・BYOK・目視確認。鍵は保存しない。実名/数字は変えない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9372600" y="4553712"/>
            <a:ext cx="2194560" cy="841248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82328" y="460857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2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BYOK／鍵非保存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6A8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進行台本：安全に使う〜まとめ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572768"/>
            <a:ext cx="118872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72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57400" y="1572768"/>
            <a:ext cx="91440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572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1572768"/>
            <a:ext cx="310896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72768"/>
            <a:ext cx="329184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話すこと（キーメッセージ）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72600" y="1572768"/>
            <a:ext cx="2194560" cy="457200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板書・強調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2029968"/>
            <a:ext cx="1188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08483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安全設計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57400" y="2029968"/>
            <a:ext cx="914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7128" y="208483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71800" y="2029968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208483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安心して使える設計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029968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08483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普段は端末内のみ。AI時だけ外部送信。4つの約束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72600" y="2029968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82328" y="208483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実名NG・目視確認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3081528"/>
            <a:ext cx="118872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313639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学び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57400" y="3081528"/>
            <a:ext cx="91440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67128" y="313639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71800" y="3081528"/>
            <a:ext cx="310896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1528" y="31363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設計の勘どころ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80760" y="3081528"/>
            <a:ext cx="329184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13639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保守性4＋可読性4を要点で。詳細は別研修へ橋渡し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72600" y="3081528"/>
            <a:ext cx="2194560" cy="1051560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82328" y="313639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“変えやすさ/読みやすさ”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8680" y="4133088"/>
            <a:ext cx="1188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418795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まとめ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57400" y="4133088"/>
            <a:ext cx="914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67128" y="418795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Q&amp;A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971800" y="4133088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1528" y="418795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行動につなげる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0760" y="4133088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418795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持ち帰り3つ＋“次の一歩”。Q&amp;Aへ。フォロー先を案内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372600" y="4133088"/>
            <a:ext cx="2194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82328" y="418795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次の一歩を促す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デモ／ハンズオンの進め方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おすすめデモ手順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6A86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社内報告タイプを選び、件名と結論だけ入力
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空欄が出力に出ないことを見せる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6A86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実施内容を箇条書きで追加
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・記法→リストに整形される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6A86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794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Wordで保存→実ファイルを開く
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端末内で完結を体感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6A86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800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754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（任意）AI整形→プロンプトを開示
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送る内容を見せる→鍵非保存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551383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進め方のコツ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手を動かす前に“何が起きるか”を予告する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入力は短く。完成が早く見えると飽きない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AIデモは任意。使わない選択も尊重する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うまくいかない時の保険（下記）を用意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297680"/>
            <a:ext cx="5074920" cy="1463040"/>
          </a:xfrm>
          <a:prstGeom prst="roundRect">
            <a:avLst>
              <a:gd name="adj" fmla="val 5625"/>
            </a:avLst>
          </a:prstGeom>
          <a:solidFill>
            <a:srgbClr val="F7E7E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407408"/>
            <a:ext cx="54864" cy="1243584"/>
          </a:xfrm>
          <a:prstGeom prst="rect">
            <a:avLst/>
          </a:prstGeom>
          <a:solidFill>
            <a:srgbClr val="C07A72"/>
          </a:solidFill>
          <a:ln/>
        </p:spPr>
      </p:sp>
      <p:sp>
        <p:nvSpPr>
          <p:cNvPr id="26" name="Text 24"/>
          <p:cNvSpPr/>
          <p:nvPr/>
        </p:nvSpPr>
        <p:spPr>
          <a:xfrm>
            <a:off x="6638544" y="440740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3F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デモが失敗したら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38544" y="4809744"/>
            <a:ext cx="46542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AIが繋がらない→「本体は動く」を逆に強調材料に。事前に作った完成例を見せて進行を止めない。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想定質問 ＆ 回答（Q&amp;A集）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72768"/>
            <a:ext cx="393192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72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想定質問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76656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7276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回答ポイント（事実ベース）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1993392"/>
            <a:ext cx="3931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04825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Word出力は本物のWord形式？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993392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048256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厳密なOOXMLではなく「HTMLを.docとして保存」する方式。依存ゼロで互換を確保する割り切り。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2596896"/>
            <a:ext cx="393192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6517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APIキーは安全？どこかに保存される？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596896"/>
            <a:ext cx="676656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保存しない（BYOK）。入力欄から読むのみでリロードで消える。ブラウザ直送方式なので利用上限つきの鍵を推奨。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3200400"/>
            <a:ext cx="3931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2552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本当にオフラインで動く？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200400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255264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作成・保存は外部依存ゼロで動く。外部送信はAI整形を使ったときの1か所のみ。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3803904"/>
            <a:ext cx="393192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85876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AIが数字や固有名を変えてしまわない？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803904"/>
            <a:ext cx="676656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858768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プロンプトで「事実・数字・固有名・実名を変えない」と指示。最後は人が目視確認する運用が前提。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4407408"/>
            <a:ext cx="3931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44622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フレームワークを使わない理由は？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4407408"/>
            <a:ext cx="6766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446227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配布のしやすさとオフライン動作を最優先したため。1ファイルで動き、監査も容易。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10912"/>
            <a:ext cx="393192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0657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新しい文書タイプは追加できる？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5010912"/>
            <a:ext cx="676656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5065776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可能。VARIANTS/META/FIELDSにデータを追記するだけ（ロジック改修は原則不要）。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つまずき対応・トラブルシュート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72768"/>
            <a:ext cx="365760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72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572768"/>
            <a:ext cx="365760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72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想定原因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572768"/>
            <a:ext cx="3383280" cy="420624"/>
          </a:xfrm>
          <a:prstGeom prst="rect">
            <a:avLst/>
          </a:prstGeom>
          <a:solidFill>
            <a:srgbClr val="8A6A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727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その場の対応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1993392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0482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AI整形が動かない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1993392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20482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鍵未入力／ネットワーク／モデル名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1993392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20482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本体は動くと示し、完成例で進行継続。原因は後で個別に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2706624"/>
            <a:ext cx="3657600" cy="713232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7614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Excelで文字化け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2706624"/>
            <a:ext cx="3657600" cy="713232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27614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BOMなしCSVを別ツールで開いた等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2706624"/>
            <a:ext cx="3383280" cy="713232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276148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本ツールのCSVはBOM付き。開き方を案内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" y="3419856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34747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保存ファイルが開けない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3419856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4747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拡張子の関連付け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83880" y="3419856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34747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Word/Excelは.doc/.xls(HTML)である旨を説明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4133088"/>
            <a:ext cx="3657600" cy="713232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41879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入力が消えた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26280" y="4133088"/>
            <a:ext cx="3657600" cy="713232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41879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リロードした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83880" y="4133088"/>
            <a:ext cx="3383280" cy="713232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418795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仕様（端末内のみ・非永続）。こまめに保存を案内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8680" y="4846320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" y="49011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受講生の手が止まる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26280" y="4846320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6008" y="49011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入力項目が多く感じる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83880" y="4846320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3608" y="49011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「書ける所だけでOK・空欄は出ない」を再周知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クロージング ＆ フォローアップ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7EE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締めのメッセージ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持ち帰り3つを再確認（一本道／データ駆動／AIは任意）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“次の一歩”を促す（テンプレ化したい文書を1つ選ぶ）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深掘りは別研修（保守性・可読性）へ橋渡し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114800"/>
            <a:ext cx="5074920" cy="1645920"/>
          </a:xfrm>
          <a:prstGeom prst="roundRect">
            <a:avLst>
              <a:gd name="adj" fmla="val 5000"/>
            </a:avLst>
          </a:prstGeom>
          <a:solidFill>
            <a:srgbClr val="F4EDD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224528"/>
            <a:ext cx="54864" cy="142646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422452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受講生への問い（任意）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14984" y="4626864"/>
            <a:ext cx="4654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「自分の業務で、毎回ゼロから書いている文書は？」</a:t>
            </a:r>
            <a:endParaRPr lang="en-US" sz="1200" dirty="0"/>
          </a:p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それが最初に作るべき新タイプの候補です。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51383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フォローアップ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アンケート／感想フォームを案内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参考リンク（MDN／Anthropic）を共有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質問の受け皿（チャンネル等）を明示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次回テーマの予告（任意）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297680"/>
            <a:ext cx="5074920" cy="1463040"/>
          </a:xfrm>
          <a:prstGeom prst="roundRect">
            <a:avLst>
              <a:gd name="adj" fmla="val 5625"/>
            </a:avLst>
          </a:prstGeom>
          <a:solidFill>
            <a:srgbClr val="FBF5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4407408"/>
            <a:ext cx="54864" cy="1243584"/>
          </a:xfrm>
          <a:prstGeom prst="rect">
            <a:avLst/>
          </a:prstGeom>
          <a:solidFill>
            <a:srgbClr val="8B7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638544" y="440740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ふりかえり（講師用）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38544" y="4809744"/>
            <a:ext cx="46542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押した箇所／盛り上がった質問をメモし、次回の配分に反映する。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面白きこともなき世を面白く（高杉晋作）　— うさうさ先生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2026-06-11T02:55:22Z</dcterms:created>
  <dcterms:modified xsi:type="dcterms:W3CDTF">2026-06-11T02:55:22Z</dcterms:modified>
</cp:coreProperties>
</file>