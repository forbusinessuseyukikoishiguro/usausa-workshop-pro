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新人向け導入。今日は“良いコードの第一歩”。難しい理論より、明日から使える習慣を、図解と演習で体得します。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ゴールと流れを共有。新人は手を動かす演習を2つ用意。チェックリストを持ち帰れることをゴールに据える。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動機づけ。Clean Codeの“読む:書く=10:1超”を引用（経験則として正直に）。半年後の自分は他人、を強調。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全体像を比喩で。一本道＝入口→処理→出口。状態が1か所、を地図として渡す。以降の習慣はこの地図の上に乗る。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保守性を新人向けに3習慣へ圧縮。専門用語（OCP/DRY）は出さず、感覚で。合言葉で持ち帰らせる。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可読性を4習慣へ。命名・規約・ネスト・意図。新人向け定番のリーダブルコードを参考に提示。1つずつでOKと励ます。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演習①。手を動かす。ペア推奨。解答例は一例で正解は複数あると伝える。名前だけで可読性が上がる体験。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演習②。Before/Afterで早期returnを体感。本筋が左に揃う＝読みやすい。Fowlerのガード節が背景。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まとめ。チェックリストと読書リスト。最後に“1か所だけ直す”宿題で行動につなげる。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05A8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3934"/>
            </a:avLst>
          </a:prstGeom>
          <a:solidFill>
            <a:srgbClr val="FDF6F9"/>
          </a:solidFill>
          <a:ln/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0972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法人研修 ・ エンジニア基礎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保守性・可読性 入門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あとで自分が楽になるコードの書き方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97280" y="352044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520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対象：新人エンジニア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352044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F4EAF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0" y="35204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所要：約45分＋演習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97280" y="4206240"/>
            <a:ext cx="9966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25880" y="4370832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この研修のねらい　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「動けばOK」から一歩進んで、半年後の自分やチームが読めて直せるコードの“良い習慣”を、実例と図解と小さな演習で身につけます。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　／　石黒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本日のゴールと進め方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4813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「保守性＝変えやすさ」「可読性＝読みやすさ」を自分の言葉で説明できる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今日からできる“良い習慣”を5つ以上、手を動かして試せる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自分のコードを見直すチェックリストを持ち帰れる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4553712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前半：なぜ大事？ → 保守性 → 可読性（図解中心）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後半：ミニ演習（名前・ネスト）→ まとめ＆チェックリスト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3524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アジェンダ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352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なぜ大事？（読む時間の話）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635240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2587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5877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全体像：一本道で考える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635240" y="320954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0" y="320954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0" y="32095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保守性：今日からできる3つ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635240" y="3831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383133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8313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可読性：今日からできる4つ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635240" y="44531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80960" y="4453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0" y="44531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演習：名前／ネスト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35240" y="5074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5074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5074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まとめ・チェックリスト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なぜ大事？ コードは“読む時間”が長い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書く時間より、読む時間のほうがずっと長い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1188720" cy="640080"/>
          </a:xfrm>
          <a:prstGeom prst="roundRect">
            <a:avLst>
              <a:gd name="adj" fmla="val 14286"/>
            </a:avLst>
          </a:prstGeom>
          <a:solidFill>
            <a:srgbClr val="FBE7EF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2286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書く 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228600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D05A86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22860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 10（修正・調査・引き継ぎ…）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自分が書いたコードも、半年後は“他人のコード”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読みにくい・直しにくいコードは、時間とミスを生む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だから「書きやすさ」より「読みやすさ・直しやすさ」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35240" y="15087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BE7E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35240" y="1508760"/>
            <a:ext cx="109728" cy="1828800"/>
          </a:xfrm>
          <a:prstGeom prst="roundRect">
            <a:avLst>
              <a:gd name="adj" fmla="val 33333"/>
            </a:avLst>
          </a:prstGeom>
          <a:solidFill>
            <a:srgbClr val="D05A86"/>
          </a:solidFill>
          <a:ln/>
        </p:spPr>
      </p:sp>
      <p:sp>
        <p:nvSpPr>
          <p:cNvPr id="18" name="Text 16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ひとことで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91272" y="203911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コードは“書いて終わり”ではなく、“何度も読まれる”もの。読み手にやさしく書くのが、結局いちばん速い。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35240" y="35204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D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635240" y="3520440"/>
            <a:ext cx="109728" cy="219456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2" name="Text 20"/>
          <p:cNvSpPr/>
          <p:nvPr/>
        </p:nvSpPr>
        <p:spPr>
          <a:xfrm>
            <a:off x="7891272" y="3630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91272" y="405079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保守性＝あとで変えやすい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可読性＝ぱっと読める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この2つを今日体験します。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Martin, R.C. (2008) Clean Code — 「読む時間と書く時間の比は10対1を大きく超える」という経験則を提示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全体像：プログラムは“一本道”で考える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例：報告書ツールの流れ（うさうさラーメン店モデル）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BE7E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286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（種類）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920240" y="2743200"/>
            <a:ext cx="201168" cy="0"/>
          </a:xfrm>
          <a:prstGeom prst="line">
            <a:avLst/>
          </a:prstGeom>
          <a:noFill/>
          <a:ln w="25400">
            <a:solidFill>
              <a:srgbClr val="D05A8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21408" y="228600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67128" y="2286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注文票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（入力）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18688" y="2743200"/>
            <a:ext cx="201168" cy="0"/>
          </a:xfrm>
          <a:prstGeom prst="line">
            <a:avLst/>
          </a:prstGeom>
          <a:noFill/>
          <a:ln w="25400">
            <a:solidFill>
              <a:srgbClr val="D05A8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19856" y="228600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65576" y="2286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厨房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（整形）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17136" y="2743200"/>
            <a:ext cx="201168" cy="0"/>
          </a:xfrm>
          <a:prstGeom prst="line">
            <a:avLst/>
          </a:prstGeom>
          <a:noFill/>
          <a:ln w="25400">
            <a:solidFill>
              <a:srgbClr val="D05A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18304" y="228600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64024" y="2286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提供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（表示）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15584" y="2743200"/>
            <a:ext cx="201168" cy="0"/>
          </a:xfrm>
          <a:prstGeom prst="line">
            <a:avLst/>
          </a:prstGeom>
          <a:noFill/>
          <a:ln w="25400">
            <a:solidFill>
              <a:srgbClr val="D05A8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16752" y="2286000"/>
            <a:ext cx="1097280" cy="914400"/>
          </a:xfrm>
          <a:prstGeom prst="roundRect">
            <a:avLst>
              <a:gd name="adj" fmla="val 10000"/>
            </a:avLst>
          </a:prstGeom>
          <a:solidFill>
            <a:srgbClr val="FBE7E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62472" y="228600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持ち帰り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（保存）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8680" y="3657600"/>
            <a:ext cx="5852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むずかしい処理はなく、入口→処理→出口の一本道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「いま自分は道のどこ？」を意識すると迷わない</a:t>
            </a:r>
            <a:endParaRPr lang="en-US" sz="1400" dirty="0"/>
          </a:p>
          <a:p>
            <a:pPr marL="203200" indent="-203200">
              <a:lnSpc>
                <a:spcPct val="100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バグも“どの段階か”を考えると当たりがつく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5087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FBE7EF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1508760"/>
            <a:ext cx="109728" cy="2011680"/>
          </a:xfrm>
          <a:prstGeom prst="roundRect">
            <a:avLst>
              <a:gd name="adj" fmla="val 33333"/>
            </a:avLst>
          </a:prstGeom>
          <a:solidFill>
            <a:srgbClr val="D05A86"/>
          </a:solidFill>
          <a:ln/>
        </p:spPr>
      </p:sp>
      <p:sp>
        <p:nvSpPr>
          <p:cNvPr id="28" name="Text 26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91272" y="203911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全体像を“一本道”でイメージできると、細かいコードも地図の上に置ける。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35240" y="35204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D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3520440"/>
            <a:ext cx="109728" cy="219456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2" name="Text 30"/>
          <p:cNvSpPr/>
          <p:nvPr/>
        </p:nvSpPr>
        <p:spPr>
          <a:xfrm>
            <a:off x="7891272" y="3630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新人がつまずく所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91272" y="405079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「値はどこにある？」→ 状態は1か所（store）にまとまっている、と覚えるだけで迷いが減ります。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本ツール（報告書＆手順書ファクトリー PRO）のソース構成にもとづく — 定義→状態→描画→生成→出力 の単方向フロー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保守性：今日からできる3つ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5544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554480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54480" y="1508760"/>
            <a:ext cx="5166360" cy="1325880"/>
          </a:xfrm>
          <a:prstGeom prst="roundRect">
            <a:avLst>
              <a:gd name="adj" fmla="val 6897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データを“足す”だけで増やす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37360" y="197510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分岐（if/switch）を増やすのではなく、表（データ）に1行足す感覚で機能を増やす。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303580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035808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2990088"/>
            <a:ext cx="5166360" cy="1325880"/>
          </a:xfrm>
          <a:prstGeom prst="roundRect">
            <a:avLst>
              <a:gd name="adj" fmla="val 6897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30540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状態は1か所にまとめる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737360" y="34564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値をあちこちに散らさない。1か所（store）に集めると、調べる場所が一意になる。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51713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517136"/>
            <a:ext cx="475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54480" y="4471416"/>
            <a:ext cx="5166360" cy="1325880"/>
          </a:xfrm>
          <a:prstGeom prst="roundRect">
            <a:avLst>
              <a:gd name="adj" fmla="val 6897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37360" y="45354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同じ処理を何度も書かない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7373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コピペで増やさない。共通化すれば、直すのは1か所で済む（DRY）。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06640" y="1325880"/>
            <a:ext cx="4279392" cy="457200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BE7EF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D05A86"/>
          </a:solidFill>
          <a:ln/>
        </p:spPr>
      </p:sp>
      <p:sp>
        <p:nvSpPr>
          <p:cNvPr id="27" name="Text 25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なぜ保守性？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あとで機能を足したり直したりするのが楽になる＝「変えやすい」状態を作るため。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1" name="Text 29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今日の合言葉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「足すだけ」「1か所」「重複しない」。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この3つを意識するだけで保守性は上がります。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可読性：今日からできる4つ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55448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15544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81328" y="1508760"/>
            <a:ext cx="5239512" cy="960120"/>
          </a:xfrm>
          <a:prstGeom prst="roundRect">
            <a:avLst>
              <a:gd name="adj" fmla="val 9524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64208" y="15087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良い名前をつける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f1 ではなく buildNaibu。動詞＋対象で、読めば役割が分かる名前に。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2633472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26334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81328" y="2587752"/>
            <a:ext cx="5239512" cy="960120"/>
          </a:xfrm>
          <a:prstGeom prst="roundRect">
            <a:avLst>
              <a:gd name="adj" fmla="val 9524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64208" y="258775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同じ書き方で揃える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同じことは毎回同じ書き方で。揃っていると“次に何が来るか”が読める。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3712464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371246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81328" y="3666744"/>
            <a:ext cx="5239512" cy="960120"/>
          </a:xfrm>
          <a:prstGeom prst="roundRect">
            <a:avLst>
              <a:gd name="adj" fmla="val 9524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664208" y="3666744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ネストを浅く保つ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条件は先に弾く（早期return）。字下げが深いと読みにくい。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791456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79145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481328" y="4745736"/>
            <a:ext cx="5239512" cy="960120"/>
          </a:xfrm>
          <a:prstGeom prst="roundRect">
            <a:avLst>
              <a:gd name="adj" fmla="val 9524"/>
            </a:avLst>
          </a:prstGeom>
          <a:solidFill>
            <a:srgbClr val="FDF6F9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664208" y="474573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“なぜ”をひとこと残す　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意図をコメントや項目に残す。後任が背景を理解できる。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406640" y="1325880"/>
            <a:ext cx="4279392" cy="457200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BE7EF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D05A86"/>
          </a:solidFill>
          <a:ln/>
        </p:spPr>
      </p:sp>
      <p:sp>
        <p:nvSpPr>
          <p:cNvPr id="28" name="Text 26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なぜ可読性？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読み手（未来の自分・同僚）の負担を減らすため。読みやすさは速さと正確さに直結。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35240" y="3749040"/>
            <a:ext cx="3840480" cy="2057400"/>
          </a:xfrm>
          <a:prstGeom prst="roundRect">
            <a:avLst>
              <a:gd name="adj" fmla="val 4444"/>
            </a:avLst>
          </a:prstGeom>
          <a:solidFill>
            <a:srgbClr val="FD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7635240" y="3749040"/>
            <a:ext cx="109728" cy="205740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32" name="Text 30"/>
          <p:cNvSpPr/>
          <p:nvPr/>
        </p:nvSpPr>
        <p:spPr>
          <a:xfrm>
            <a:off x="7891272" y="38587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91272" y="42793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名前・規約・浅いネスト・意図。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どれも特別な道具は不要。今日から1つずつでOK。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Boswell, D. &amp; Foucher, T. (2011) The Art of Readable Code（邦題：リーダブルコード, O'Reilly）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演習①：良い名前を考えよう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463040"/>
            <a:ext cx="6126480" cy="868680"/>
          </a:xfrm>
          <a:prstGeom prst="roundRect">
            <a:avLst>
              <a:gd name="adj" fmla="val 10526"/>
            </a:avLst>
          </a:prstGeom>
          <a:solidFill>
            <a:srgbClr val="F8F0DD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463040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BD8A2E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157276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お題（3分・ペアでもOK）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199339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下の“わかりにくい名前”を、役割が伝わる名前に言い換えてみよう。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468880"/>
            <a:ext cx="6126480" cy="1371600"/>
          </a:xfrm>
          <a:prstGeom prst="roundRect">
            <a:avLst>
              <a:gd name="adj" fmla="val 5333"/>
            </a:avLst>
          </a:prstGeom>
          <a:solidFill>
            <a:srgbClr val="FAF0F4"/>
          </a:solidFill>
          <a:ln w="12700">
            <a:solidFill>
              <a:srgbClr val="EFD3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" y="2560320"/>
            <a:ext cx="58338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f1(d){ … }      // 報告書を組み立てる関数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g(k);            // 入力値を取り出している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doIt(){ … }     // プレビューを作り直す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ヒント：動詞＋対象（build〜 / get〜 / render〜）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6126480" cy="1188720"/>
          </a:xfrm>
          <a:prstGeom prst="roundRect">
            <a:avLst>
              <a:gd name="adj" fmla="val 7692"/>
            </a:avLst>
          </a:prstGeom>
          <a:solidFill>
            <a:srgbClr val="FD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80560"/>
            <a:ext cx="109728" cy="118872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" y="459028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解答例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50109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f1 → buildReport ／ x = getValue(key) ／ doIt → renderPreview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BE7EF"/>
          </a:solidFill>
          <a:ln/>
        </p:spPr>
      </p:sp>
      <p:sp>
        <p:nvSpPr>
          <p:cNvPr id="22" name="Shape 20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D05A86"/>
          </a:solidFill>
          <a:ln/>
        </p:spPr>
      </p:sp>
      <p:sp>
        <p:nvSpPr>
          <p:cNvPr id="23" name="Text 21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ねらい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“名前を良くするだけ”でコメントなしに読めることを体感する。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35204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D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7635240" y="3520440"/>
            <a:ext cx="109728" cy="219456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7" name="Text 25"/>
          <p:cNvSpPr/>
          <p:nvPr/>
        </p:nvSpPr>
        <p:spPr>
          <a:xfrm>
            <a:off x="7891272" y="3630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ふりかえり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91272" y="405079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良い名前の条件は？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役割が分かる・略しすぎない・チームで揃う。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演習②：ネストを浅くしよう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676656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463040"/>
            <a:ext cx="6126480" cy="868680"/>
          </a:xfrm>
          <a:prstGeom prst="roundRect">
            <a:avLst>
              <a:gd name="adj" fmla="val 10526"/>
            </a:avLst>
          </a:prstGeom>
          <a:solidFill>
            <a:srgbClr val="F8F0DD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1463040"/>
            <a:ext cx="109728" cy="868680"/>
          </a:xfrm>
          <a:prstGeom prst="roundRect">
            <a:avLst>
              <a:gd name="adj" fmla="val 33333"/>
            </a:avLst>
          </a:prstGeom>
          <a:solidFill>
            <a:srgbClr val="BD8A2E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157276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5A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お題（3分）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33272" y="199339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下の入れ子を、早期return（ガード節）で浅くしてみよう。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5146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F7E6E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146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D575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✗ Before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2852928"/>
            <a:ext cx="6126480" cy="1097280"/>
          </a:xfrm>
          <a:prstGeom prst="roundRect">
            <a:avLst>
              <a:gd name="adj" fmla="val 6667"/>
            </a:avLst>
          </a:prstGeom>
          <a:solidFill>
            <a:srgbClr val="FAF0F4"/>
          </a:solidFill>
          <a:ln w="12700">
            <a:solidFill>
              <a:srgbClr val="EFD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944368"/>
            <a:ext cx="5833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sec(L,label,val){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if(val){ L.push("■ "+label); /* … */ }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6F3E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F9C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After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4407408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FAF0F4"/>
          </a:solidFill>
          <a:ln w="12700">
            <a:solidFill>
              <a:srgbClr val="3F9C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498848"/>
            <a:ext cx="5833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sec(L,label,val){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if(!val) return;        // 先に弾く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L.push("■ "+label); /* … */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2E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06640" y="1325880"/>
            <a:ext cx="4279392" cy="4480560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101600" dist="25400" dir="5400000">
              <a:srgbClr val="D6A8BD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35240" y="150876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BE7EF"/>
          </a:solidFill>
          <a:ln/>
        </p:spPr>
      </p:sp>
      <p:sp>
        <p:nvSpPr>
          <p:cNvPr id="23" name="Shape 21"/>
          <p:cNvSpPr/>
          <p:nvPr/>
        </p:nvSpPr>
        <p:spPr>
          <a:xfrm>
            <a:off x="7635240" y="1508760"/>
            <a:ext cx="109728" cy="2103120"/>
          </a:xfrm>
          <a:prstGeom prst="roundRect">
            <a:avLst>
              <a:gd name="adj" fmla="val 33333"/>
            </a:avLst>
          </a:prstGeom>
          <a:solidFill>
            <a:srgbClr val="D05A86"/>
          </a:solidFill>
          <a:ln/>
        </p:spPr>
      </p:sp>
      <p:sp>
        <p:nvSpPr>
          <p:cNvPr id="24" name="Text 22"/>
          <p:cNvSpPr/>
          <p:nvPr/>
        </p:nvSpPr>
        <p:spPr>
          <a:xfrm>
            <a:off x="7891272" y="161848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ねらい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891272" y="20391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条件を先に弾くと、本筋が左に揃って読みやすくなることを体感する。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35240" y="352044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DF6F9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5240" y="3520440"/>
            <a:ext cx="109728" cy="2194560"/>
          </a:xfrm>
          <a:prstGeom prst="roundRect">
            <a:avLst>
              <a:gd name="adj" fmla="val 33333"/>
            </a:avLst>
          </a:prstGeom>
          <a:solidFill>
            <a:srgbClr val="857180"/>
          </a:solidFill>
          <a:ln/>
        </p:spPr>
      </p:sp>
      <p:sp>
        <p:nvSpPr>
          <p:cNvPr id="28" name="Text 26"/>
          <p:cNvSpPr/>
          <p:nvPr/>
        </p:nvSpPr>
        <p:spPr>
          <a:xfrm>
            <a:off x="7891272" y="36301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71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覚え方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91272" y="405079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「ダメな条件は入口で帰す」。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本筋（やりたい処理）だけが残るので、視線が右に流れません。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5961888"/>
            <a:ext cx="11183112" cy="438912"/>
          </a:xfrm>
          <a:prstGeom prst="roundRect">
            <a:avLst>
              <a:gd name="adj" fmla="val 16667"/>
            </a:avLst>
          </a:prstGeom>
          <a:solidFill>
            <a:srgbClr val="FBE7EF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9618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　</a:t>
            </a:r>
            <a:pPr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Fowler, M. (2018) Refactoring 2nd ed. — “Replace Nested Conditional with Guard Clauses”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D05A86"/>
          </a:solidFill>
          <a:ln/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0292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207008" y="42062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 ＆ 新人チェックリスト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0469880" y="585216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BE7EF"/>
          </a:solidFill>
          <a:ln/>
        </p:spPr>
      </p:sp>
      <p:sp>
        <p:nvSpPr>
          <p:cNvPr id="6" name="Text 4"/>
          <p:cNvSpPr/>
          <p:nvPr/>
        </p:nvSpPr>
        <p:spPr>
          <a:xfrm>
            <a:off x="10469880" y="5852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207008"/>
            <a:ext cx="11183112" cy="0"/>
          </a:xfrm>
          <a:prstGeom prst="line">
            <a:avLst/>
          </a:prstGeom>
          <a:noFill/>
          <a:ln w="15875">
            <a:solidFill>
              <a:srgbClr val="EFD3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2588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FBE7E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保守性（変えやすさ）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機能は“データを足すだけ”で増やせたか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状態を1か所にまとめたか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同じ処理を重複させていないか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可読性（読みやすさ）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1480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名前で役割が伝わるか（動詞＋対象）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書き方を揃えた／ネストを浅くしたか</a:t>
            </a:r>
            <a:endParaRPr lang="en-US" sz="135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“なぜ”をひとこと残したか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325880"/>
            <a:ext cx="5422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FD3DF"/>
            </a:solidFill>
            <a:prstDash val="solid"/>
          </a:ln>
          <a:effectLst>
            <a:outerShdw sx="100000" sy="100000" kx="0" ky="0" algn="bl" rotWithShape="0" blurRad="63500" dist="12700" dir="5400000">
              <a:srgbClr val="E0BACB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もっと学ぶなら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『リーダブルコード』Boswell &amp; Foucher (2011)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『Clean Code』Robert C. Martin (2008)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MDN（fetch / DOM などWeb APIの基礎）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Refactoring（Martin Fowler）— ガード節 ほか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4572000"/>
            <a:ext cx="4937760" cy="1188720"/>
          </a:xfrm>
          <a:prstGeom prst="roundRect">
            <a:avLst>
              <a:gd name="adj" fmla="val 7692"/>
            </a:avLst>
          </a:prstGeom>
          <a:solidFill>
            <a:srgbClr val="FBE7E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4572000"/>
            <a:ext cx="109728" cy="1188720"/>
          </a:xfrm>
          <a:prstGeom prst="roundRect">
            <a:avLst>
              <a:gd name="adj" fmla="val 33333"/>
            </a:avLst>
          </a:prstGeom>
          <a:solidFill>
            <a:srgbClr val="D05A86"/>
          </a:solidFill>
          <a:ln/>
        </p:spPr>
      </p:sp>
      <p:sp>
        <p:nvSpPr>
          <p:cNvPr id="18" name="Text 16"/>
          <p:cNvSpPr/>
          <p:nvPr/>
        </p:nvSpPr>
        <p:spPr>
          <a:xfrm>
            <a:off x="6748272" y="46817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C3E6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今日の一歩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48272" y="51023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29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自分の最近のコードを1つ開いて、名前かネストを1か所だけ直してみよう。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石黒（うさうさ研修工房）</dc:creator>
  <cp:lastModifiedBy>石黒（うさうさ研修工房）</cp:lastModifiedBy>
  <cp:revision>1</cp:revision>
  <dcterms:created xsi:type="dcterms:W3CDTF">2026-06-11T02:38:41Z</dcterms:created>
  <dcterms:modified xsi:type="dcterms:W3CDTF">2026-06-11T02:38:41Z</dcterms:modified>
</cp:coreProperties>
</file>