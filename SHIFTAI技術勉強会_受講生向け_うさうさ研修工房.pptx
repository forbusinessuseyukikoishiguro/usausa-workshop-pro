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受講生向け表紙。SHIFT AIの技術勉強会として、“AIは任意・オフラインで動く実務ツール”をHTML一枚でどう設計するかを学ぶ会、と一言で紹介。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テーマとゴールを共有。AI=任意が今日の背骨。SHIFT AI的にはAI連携の作法（BYOK/透明性）が見どころ。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ツールの正体。左に書く→右に完成→下で保存、の3エリア。ヒント付き・空欄スキップが新人にやさしい。AIは任意。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5レイヤー単方向。比喩を技術語に翻訳。改修の影響範囲が読める点を強調。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データ駆動が肝。定義を書くとUIも出力も自動。型追加は分岐でなくデータ追記。Open/Closed的。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単一情報源＋1ループ。値はstoreだけ。打った瞬間に反映、空欄はスキップ。デバッグが楽。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ハブ＆スポーク。previewToBlocksという共通の素。CSVのBOMは文字化け回避あるある。Word/Excelの割り切りも正直に。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AI的見どころ。AI連携の作法＝任意・透明・人の確認。BYOKで鍵を保存しない。実名/数字を変えない指示。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プライバシー設計。普段は端末内のみ、AI使用時だけ外部送信。実名NG・鍵非保存・目視確認の4約束。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設計の学び。保守性4点・可読性4点。詳細は別途“保守性・可読性”研修で。ここでは要点だけ。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持ち帰り3つ＋次の一歩。Q&amp;Aへ。参考リンクは深掘り用。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77B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3279"/>
            </a:avLst>
          </a:prstGeom>
          <a:solidFill>
            <a:srgbClr val="FBF5F3"/>
          </a:solidFill>
          <a:ln/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97280" y="2331720"/>
            <a:ext cx="2011680" cy="0"/>
          </a:xfrm>
          <a:prstGeom prst="line">
            <a:avLst/>
          </a:prstGeom>
          <a:noFill/>
          <a:ln w="19050">
            <a:solidFill>
              <a:srgbClr val="C2A3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SHIFT AI 技術勉強会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514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AIを“任意”で組み込む実務ツールの設計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報告書＆手順書ファクトリー PRO に学ぶ 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4434840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4348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対象：受講生（実務ツールを自作したい方）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0" y="443484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4EDDD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44348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所要：約60分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　石黒（うさうさ先生）　／　2026-06-11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本日のテーマとゴール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5" name="Text 3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5087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「AIは“あったら便利”の任意機能」という前提で、オフラインでも完結する実務ツールを、フレームワークなしのHTML一枚で設計する。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到達ゴール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データ駆動でUIと出力を“生やす”設計を理解する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クライアントだけで5形式に書き出す仕組みを知る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AIを“任意・透明・安全”に組み込む作法を持ち帰る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保守性・可読性の勘どころを自分の開発に活かす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60920" y="1325880"/>
            <a:ext cx="4325112" cy="4572000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アジェンダ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89520" y="1965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A3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1965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このツールは何？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89520" y="24003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A3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24003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全体アーキテクチャ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A3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28346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データ駆動設計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89520" y="32689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A3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32689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状態管理と1ループ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703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A3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3703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5形式エクスポート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89520" y="41376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A3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46720" y="41376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AIサポート（任意・BYOK）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4572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A3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4572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安全に使う設計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89520" y="50063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A3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0" y="50063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保守性・可読性の学び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5440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A36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9.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5440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まとめ・Q&amp;A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77B9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このツールは何？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8132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1920240"/>
            <a:ext cx="1554480" cy="457200"/>
          </a:xfrm>
          <a:prstGeom prst="roundRect">
            <a:avLst>
              <a:gd name="adj" fmla="val 18000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1920240"/>
            <a:ext cx="1554480" cy="457200"/>
          </a:xfrm>
          <a:prstGeom prst="roundRect">
            <a:avLst>
              <a:gd name="adj" fmla="val 18000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25146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6060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記入フォーム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" y="3017520"/>
            <a:ext cx="2377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3017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3520440"/>
            <a:ext cx="2377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3520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4023360"/>
            <a:ext cx="2377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023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実施内容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" y="4526280"/>
            <a:ext cx="2377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4526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結果・数値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05840" y="5029200"/>
            <a:ext cx="2377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1560" y="5029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今後の対応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03320" y="2514600"/>
            <a:ext cx="30632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03320" y="260604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完成プレビュー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86200" y="30175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結論　予定どおり…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実施内容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・午前 講義／午後 演習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■ 結果・数値</a:t>
            </a:r>
            <a:endParaRPr lang="en-US" sz="1000" dirty="0"/>
          </a:p>
          <a:p>
            <a:pPr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・出席 18/18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03320" y="5120640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F4EDDD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49040" y="51206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5120640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F4EDDD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26280" y="51206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257800" y="5120640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F4EDDD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03520" y="51206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35040" y="5120640"/>
            <a:ext cx="713232" cy="384048"/>
          </a:xfrm>
          <a:prstGeom prst="roundRect">
            <a:avLst>
              <a:gd name="adj" fmla="val 19048"/>
            </a:avLst>
          </a:prstGeom>
          <a:solidFill>
            <a:srgbClr val="F4EDDD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80760" y="512064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CSV/Excel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60920" y="1325880"/>
            <a:ext cx="4325112" cy="4572000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89520" y="14813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ひとことで言うと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589520" y="18745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空欄を埋めるだけで、日本語のビジネス文書（報告書・手順書）が完成するツール。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7589520" y="310896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報告書11種・手順書3種（計14種）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各項目に「なぜ書くか」のヒント付き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5形式に書き出し（すべて端末内）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AI整形は“任意”機能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77B9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全体アーキテクチャ：単方向の5レイヤー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80160" y="16002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691640"/>
            <a:ext cx="329184" cy="548640"/>
          </a:xfrm>
          <a:prstGeom prst="rect">
            <a:avLst/>
          </a:prstGeom>
          <a:solidFill>
            <a:srgbClr val="A85A74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1600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出力　</a:t>
            </a:r>
            <a:pPr indent="0" marL="0"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5形式へ変換・保存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80160" y="244144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532888"/>
            <a:ext cx="329184" cy="548640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4414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文書生成　</a:t>
            </a:r>
            <a:pPr indent="0" marL="0"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buildDoc ＋ ビルダー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80160" y="3282696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374136"/>
            <a:ext cx="329184" cy="548640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28269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描画　</a:t>
            </a:r>
            <a:pPr indent="0" marL="0"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定義＋状態からUI生成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80160" y="4123944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215384"/>
            <a:ext cx="329184" cy="548640"/>
          </a:xfrm>
          <a:prstGeom prst="rect">
            <a:avLst/>
          </a:prstGeom>
          <a:solidFill>
            <a:srgbClr val="C2A36A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412394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状態 store　</a:t>
            </a:r>
            <a:pPr indent="0" marL="0"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入力を1か所に集約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80160" y="4965192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5056632"/>
            <a:ext cx="329184" cy="548640"/>
          </a:xfrm>
          <a:prstGeom prst="rect">
            <a:avLst/>
          </a:prstGeom>
          <a:solidFill>
            <a:srgbClr val="A85A74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496519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定義データ　</a:t>
            </a:r>
            <a:pPr indent="0" marL="0"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VARIANTS/META/FIELDS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5486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下から上へ。下の層ほど“動かない土台”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60920" y="1325880"/>
            <a:ext cx="4325112" cy="4572000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58952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読み解きのコツ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192024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①②は“データと状態”＝静かな土台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③は見た目、④は文章、⑤は保存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上の層は下の層を呼ぶだけ（単方向）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89520" y="3886200"/>
            <a:ext cx="3886200" cy="1828800"/>
          </a:xfrm>
          <a:prstGeom prst="roundRect">
            <a:avLst>
              <a:gd name="adj" fmla="val 4500"/>
            </a:avLst>
          </a:prstGeom>
          <a:solidFill>
            <a:srgbClr val="F4E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7589520" y="3995928"/>
            <a:ext cx="54864" cy="1609344"/>
          </a:xfrm>
          <a:prstGeom prst="rect">
            <a:avLst/>
          </a:prstGeom>
          <a:solidFill>
            <a:srgbClr val="C2A36A"/>
          </a:solidFill>
          <a:ln/>
        </p:spPr>
      </p:sp>
      <p:sp>
        <p:nvSpPr>
          <p:cNvPr id="30" name="Text 28"/>
          <p:cNvSpPr/>
          <p:nvPr/>
        </p:nvSpPr>
        <p:spPr>
          <a:xfrm>
            <a:off x="7827264" y="399592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うれしい点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27264" y="4398264"/>
            <a:ext cx="34655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層が分かれているので、文面変更は④だけ、出力追加は⑤だけ、と直す場所が一意。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77B9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データ駆動設計：型を“データ”で増やす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600200"/>
            <a:ext cx="2103120" cy="2697480"/>
          </a:xfrm>
          <a:prstGeom prst="roundRect">
            <a:avLst>
              <a:gd name="adj" fmla="val 4348"/>
            </a:avLst>
          </a:prstGeom>
          <a:solidFill>
            <a:srgbClr val="F6E8EC"/>
          </a:solidFill>
          <a:ln w="13970">
            <a:solidFill>
              <a:srgbClr val="C77B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099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定義（データ）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24128" y="2103120"/>
            <a:ext cx="17922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9848" y="210312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24128" y="2624328"/>
            <a:ext cx="17922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69848" y="2624328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24128" y="3145536"/>
            <a:ext cx="17922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69848" y="31455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FIELDS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24128" y="3666744"/>
            <a:ext cx="17922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69848" y="3666744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SAMPLES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0" y="2926080"/>
            <a:ext cx="685800" cy="0"/>
          </a:xfrm>
          <a:prstGeom prst="line">
            <a:avLst/>
          </a:prstGeom>
          <a:noFill/>
          <a:ln w="2794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880360" y="25786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自動で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94760" y="2011680"/>
            <a:ext cx="2926080" cy="868680"/>
          </a:xfrm>
          <a:prstGeom prst="roundRect">
            <a:avLst>
              <a:gd name="adj" fmla="val 9474"/>
            </a:avLst>
          </a:prstGeom>
          <a:solidFill>
            <a:srgbClr val="F6E8EC"/>
          </a:solidFill>
          <a:ln w="12700">
            <a:solidFill>
              <a:srgbClr val="C77B92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0" y="20116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入力フォーム（自動生成）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94760" y="3017520"/>
            <a:ext cx="292608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0" y="30175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完成文（out指定で整形）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4480560"/>
            <a:ext cx="5852160" cy="1234440"/>
          </a:xfrm>
          <a:prstGeom prst="roundRect">
            <a:avLst>
              <a:gd name="adj" fmla="val 5185"/>
            </a:avLst>
          </a:prstGeom>
          <a:solidFill>
            <a:srgbClr val="F8EEF1"/>
          </a:solidFill>
          <a:ln w="12700">
            <a:solidFill>
              <a:srgbClr val="C77B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" y="4572000"/>
            <a:ext cx="5559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3B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新タイプ追加＝データ追記の3〜4手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3B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VARIANTS.report.push({v:"nippo", label:"日報"});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3B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META.report.nippo = {title:"日報", aim:"3行で"};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3B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FIELDS.report.nippo = [ /* 項目 */ ];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60920" y="1325880"/>
            <a:ext cx="4325112" cy="4572000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1481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新タイプ追加＝3〜4手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89520" y="193852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VARIANTS に選択肢を追加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META に見出しとねらい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FIELDS に項目を定義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（任意）SAMPLES に下書き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0" y="3886200"/>
            <a:ext cx="3886200" cy="1828800"/>
          </a:xfrm>
          <a:prstGeom prst="roundRect">
            <a:avLst>
              <a:gd name="adj" fmla="val 4500"/>
            </a:avLst>
          </a:prstGeom>
          <a:solidFill>
            <a:srgbClr val="F6E8EC"/>
          </a:solidFill>
          <a:ln/>
        </p:spPr>
      </p:sp>
      <p:sp>
        <p:nvSpPr>
          <p:cNvPr id="31" name="Shape 29"/>
          <p:cNvSpPr/>
          <p:nvPr/>
        </p:nvSpPr>
        <p:spPr>
          <a:xfrm>
            <a:off x="7589520" y="3995928"/>
            <a:ext cx="54864" cy="1609344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2" name="Text 30"/>
          <p:cNvSpPr/>
          <p:nvPr/>
        </p:nvSpPr>
        <p:spPr>
          <a:xfrm>
            <a:off x="7827264" y="399592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勘どころ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27264" y="4398264"/>
            <a:ext cx="34655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ロジックを書き換えず“データ追記”で機能が増える。保守コストが大きく下がる。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77B9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状態管理：単一情報源と1つのループ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37744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3774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834640"/>
            <a:ext cx="210312" cy="0"/>
          </a:xfrm>
          <a:prstGeom prst="line">
            <a:avLst/>
          </a:prstGeom>
          <a:noFill/>
          <a:ln w="2540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96312" y="237744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F6E8EC"/>
          </a:solidFill>
          <a:ln w="1397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42032" y="23774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（唯一の状態）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13632" y="2834640"/>
            <a:ext cx="210312" cy="0"/>
          </a:xfrm>
          <a:prstGeom prst="line">
            <a:avLst/>
          </a:prstGeom>
          <a:noFill/>
          <a:ln w="2540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123944" y="237744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EFE7EE"/>
          </a:solidFill>
          <a:ln w="1397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69664" y="23774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buildDoc()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41264" y="2834640"/>
            <a:ext cx="210312" cy="0"/>
          </a:xfrm>
          <a:prstGeom prst="line">
            <a:avLst/>
          </a:prstGeom>
          <a:noFill/>
          <a:ln w="2540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51576" y="237744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397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97296" y="23774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／出力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6118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Single Source of Truth ＝ 状態は store の1か所だけ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114800"/>
            <a:ext cx="5852160" cy="914400"/>
          </a:xfrm>
          <a:prstGeom prst="roundRect">
            <a:avLst>
              <a:gd name="adj" fmla="val 7000"/>
            </a:avLst>
          </a:prstGeom>
          <a:solidFill>
            <a:srgbClr val="F8EEF1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" y="4206240"/>
            <a:ext cx="5559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3B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ck  = k =&gt; lesson+"."+variant+"."+k;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3B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setV = (k,v) =&gt; { store[ck(k)] = v; };  // 1か所に集約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0920" y="1325880"/>
            <a:ext cx="4325112" cy="4572000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8952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いつも同じリズム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9520" y="190195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操作はすべて「状態を書き換える → 全部を作り直す → 出す」の一定ループ。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89520" y="32004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入力した瞬間に右が変わる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空欄のセクションは出力に出ない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89520" y="4617720"/>
            <a:ext cx="3886200" cy="1097280"/>
          </a:xfrm>
          <a:prstGeom prst="roundRect">
            <a:avLst>
              <a:gd name="adj" fmla="val 7500"/>
            </a:avLst>
          </a:prstGeom>
          <a:solidFill>
            <a:srgbClr val="F4EDDD"/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4727448"/>
            <a:ext cx="54864" cy="877824"/>
          </a:xfrm>
          <a:prstGeom prst="rect">
            <a:avLst/>
          </a:prstGeom>
          <a:solidFill>
            <a:srgbClr val="C2A36A"/>
          </a:solidFill>
          <a:ln/>
        </p:spPr>
      </p:sp>
      <p:sp>
        <p:nvSpPr>
          <p:cNvPr id="29" name="Text 27"/>
          <p:cNvSpPr/>
          <p:nvPr/>
        </p:nvSpPr>
        <p:spPr>
          <a:xfrm>
            <a:off x="7827264" y="472744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827264" y="5129784"/>
            <a:ext cx="3465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状態が1か所＝バグを追いやすい。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77B9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エクスポート：1つの素から5形式へ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063240"/>
            <a:ext cx="1371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40280" y="3337560"/>
            <a:ext cx="274320" cy="0"/>
          </a:xfrm>
          <a:prstGeom prst="line">
            <a:avLst/>
          </a:prstGeom>
          <a:noFill/>
          <a:ln w="2286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60320" y="2788920"/>
            <a:ext cx="2194560" cy="1097280"/>
          </a:xfrm>
          <a:prstGeom prst="roundRect">
            <a:avLst>
              <a:gd name="adj" fmla="val 7500"/>
            </a:avLst>
          </a:prstGeom>
          <a:solidFill>
            <a:srgbClr val="F6E8EC"/>
          </a:solidFill>
          <a:ln w="15240">
            <a:solidFill>
              <a:srgbClr val="C77B92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2788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previewToBlocks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（共通の素）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1783080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7830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Markdown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3337560"/>
            <a:ext cx="365760" cy="-1298448"/>
          </a:xfrm>
          <a:prstGeom prst="line">
            <a:avLst/>
          </a:prstGeom>
          <a:noFill/>
          <a:ln w="16510">
            <a:solidFill>
              <a:srgbClr val="8B7A8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12080" y="2441448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57800" y="2441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337560"/>
            <a:ext cx="365760" cy="-640080"/>
          </a:xfrm>
          <a:prstGeom prst="line">
            <a:avLst/>
          </a:prstGeom>
          <a:noFill/>
          <a:ln w="16510">
            <a:solidFill>
              <a:srgbClr val="8B7A8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12080" y="3099816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57800" y="30998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PDF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3337560"/>
            <a:ext cx="365760" cy="18288"/>
          </a:xfrm>
          <a:prstGeom prst="line">
            <a:avLst/>
          </a:prstGeom>
          <a:noFill/>
          <a:ln w="16510">
            <a:solidFill>
              <a:srgbClr val="8B7A8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12080" y="3758184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57800" y="375818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3337560"/>
            <a:ext cx="365760" cy="676656"/>
          </a:xfrm>
          <a:prstGeom prst="line">
            <a:avLst/>
          </a:prstGeom>
          <a:noFill/>
          <a:ln w="16510">
            <a:solidFill>
              <a:srgbClr val="8B7A8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212080" y="4416552"/>
            <a:ext cx="17373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4416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3337560"/>
            <a:ext cx="365760" cy="1335024"/>
          </a:xfrm>
          <a:prstGeom prst="line">
            <a:avLst/>
          </a:prstGeom>
          <a:noFill/>
          <a:ln w="16510">
            <a:solidFill>
              <a:srgbClr val="8B7A82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68680" y="5212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完成文を一度だけ構造化し、共通の素から全形式を作る＝出力がブレない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60920" y="1325880"/>
            <a:ext cx="4325112" cy="4572000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8952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うれしい配慮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89520" y="19202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CSVはBOM付き→Excelで文字化けしない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外部送信ゼロ（端末内でファイル化）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依存ライブラリなしで動く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589520" y="3931920"/>
            <a:ext cx="3886200" cy="1783080"/>
          </a:xfrm>
          <a:prstGeom prst="roundRect">
            <a:avLst>
              <a:gd name="adj" fmla="val 4615"/>
            </a:avLst>
          </a:prstGeom>
          <a:solidFill>
            <a:srgbClr val="FBF5F3"/>
          </a:solidFill>
          <a:ln/>
        </p:spPr>
      </p:sp>
      <p:sp>
        <p:nvSpPr>
          <p:cNvPr id="34" name="Shape 32"/>
          <p:cNvSpPr/>
          <p:nvPr/>
        </p:nvSpPr>
        <p:spPr>
          <a:xfrm>
            <a:off x="7589520" y="4041648"/>
            <a:ext cx="54864" cy="1563624"/>
          </a:xfrm>
          <a:prstGeom prst="rect">
            <a:avLst/>
          </a:prstGeom>
          <a:solidFill>
            <a:srgbClr val="8B7A82"/>
          </a:solidFill>
          <a:ln/>
        </p:spPr>
      </p:sp>
      <p:sp>
        <p:nvSpPr>
          <p:cNvPr id="35" name="Text 33"/>
          <p:cNvSpPr/>
          <p:nvPr/>
        </p:nvSpPr>
        <p:spPr>
          <a:xfrm>
            <a:off x="7827264" y="404164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27264" y="4443984"/>
            <a:ext cx="34655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Word/Excelは「HTMLを.doc/.xlsで保存」する方式（厳密なOOXMLではない）。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77B9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AIサポート：任意・透明・BYOK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98280" y="107899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F4EDDD"/>
          </a:solidFill>
          <a:ln/>
        </p:spPr>
      </p:sp>
      <p:sp>
        <p:nvSpPr>
          <p:cNvPr id="9" name="Text 7"/>
          <p:cNvSpPr/>
          <p:nvPr/>
        </p:nvSpPr>
        <p:spPr>
          <a:xfrm>
            <a:off x="9098280" y="10789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SHIFT AI 見どころ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1554480"/>
            <a:ext cx="2103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55448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ボタンを押す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54680" y="1554480"/>
            <a:ext cx="3566160" cy="676656"/>
          </a:xfrm>
          <a:prstGeom prst="roundRect">
            <a:avLst>
              <a:gd name="adj" fmla="val 9459"/>
            </a:avLst>
          </a:prstGeom>
          <a:solidFill>
            <a:srgbClr val="FBF5F3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1554480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敬語/短く/長く/字数 を選ぶ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2231136"/>
            <a:ext cx="0" cy="146304"/>
          </a:xfrm>
          <a:prstGeom prst="line">
            <a:avLst/>
          </a:prstGeom>
          <a:noFill/>
          <a:ln w="2286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8680" y="2377440"/>
            <a:ext cx="2103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37744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入力チェック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154680" y="2377440"/>
            <a:ext cx="3566160" cy="676656"/>
          </a:xfrm>
          <a:prstGeom prst="roundRect">
            <a:avLst>
              <a:gd name="adj" fmla="val 9459"/>
            </a:avLst>
          </a:prstGeom>
          <a:solidFill>
            <a:srgbClr val="FBF5F3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2377440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本文が短い・鍵が空→中断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0240" y="3054096"/>
            <a:ext cx="0" cy="146304"/>
          </a:xfrm>
          <a:prstGeom prst="line">
            <a:avLst/>
          </a:prstGeom>
          <a:noFill/>
          <a:ln w="2286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8680" y="3200400"/>
            <a:ext cx="2103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20040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buildPrompt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154680" y="3200400"/>
            <a:ext cx="3566160" cy="676656"/>
          </a:xfrm>
          <a:prstGeom prst="roundRect">
            <a:avLst>
              <a:gd name="adj" fmla="val 9459"/>
            </a:avLst>
          </a:prstGeom>
          <a:solidFill>
            <a:srgbClr val="FBF5F3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3200400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指示＋ルール＋本文 を組む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20240" y="3877056"/>
            <a:ext cx="0" cy="146304"/>
          </a:xfrm>
          <a:prstGeom prst="line">
            <a:avLst/>
          </a:prstGeom>
          <a:noFill/>
          <a:ln w="2286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8680" y="4023360"/>
            <a:ext cx="2103120" cy="676656"/>
          </a:xfrm>
          <a:prstGeom prst="roundRect">
            <a:avLst>
              <a:gd name="adj" fmla="val 12162"/>
            </a:avLst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402336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fetch 送信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154680" y="4023360"/>
            <a:ext cx="3566160" cy="676656"/>
          </a:xfrm>
          <a:prstGeom prst="roundRect">
            <a:avLst>
              <a:gd name="adj" fmla="val 9459"/>
            </a:avLst>
          </a:prstGeom>
          <a:solidFill>
            <a:srgbClr val="FBF5F3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91840" y="4023360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Anthropic API（鍵は端末のみ）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20240" y="4700016"/>
            <a:ext cx="0" cy="146304"/>
          </a:xfrm>
          <a:prstGeom prst="line">
            <a:avLst/>
          </a:prstGeom>
          <a:noFill/>
          <a:ln w="2286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68680" y="4846320"/>
            <a:ext cx="2103120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484632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結果を表示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154680" y="4846320"/>
            <a:ext cx="3566160" cy="676656"/>
          </a:xfrm>
          <a:prstGeom prst="roundRect">
            <a:avLst>
              <a:gd name="adj" fmla="val 9459"/>
            </a:avLst>
          </a:prstGeom>
          <a:solidFill>
            <a:srgbClr val="FBF5F3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91840" y="4846320"/>
            <a:ext cx="3337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別枠に・コピー/保存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60920" y="1325880"/>
            <a:ext cx="4325112" cy="4572000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89520" y="1481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AIは“任意”が大原則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589520" y="193852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任意：AIが無くても作成・保存は動く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透明：送る内容をその場で開示できる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確認：生成物は必ず人が目視チェック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実名NG・数字や固有名は変えない指示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589520" y="4160520"/>
            <a:ext cx="3886200" cy="1554480"/>
          </a:xfrm>
          <a:prstGeom prst="roundRect">
            <a:avLst>
              <a:gd name="adj" fmla="val 5294"/>
            </a:avLst>
          </a:prstGeom>
          <a:solidFill>
            <a:srgbClr val="F4EDDD"/>
          </a:solidFill>
          <a:ln/>
        </p:spPr>
      </p:sp>
      <p:sp>
        <p:nvSpPr>
          <p:cNvPr id="39" name="Shape 37"/>
          <p:cNvSpPr/>
          <p:nvPr/>
        </p:nvSpPr>
        <p:spPr>
          <a:xfrm>
            <a:off x="7589520" y="4270248"/>
            <a:ext cx="54864" cy="1335024"/>
          </a:xfrm>
          <a:prstGeom prst="rect">
            <a:avLst/>
          </a:prstGeom>
          <a:solidFill>
            <a:srgbClr val="C2A36A"/>
          </a:solidFill>
          <a:ln/>
        </p:spPr>
      </p:sp>
      <p:sp>
        <p:nvSpPr>
          <p:cNvPr id="40" name="Text 38"/>
          <p:cNvSpPr/>
          <p:nvPr/>
        </p:nvSpPr>
        <p:spPr>
          <a:xfrm>
            <a:off x="7827264" y="427024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BYOK（鍵は自分で）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827264" y="4672584"/>
            <a:ext cx="34655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利用者が自分のAPIキーをその場で入力。保存せずリロードで消える。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77B9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安全に使う：プライバシー設計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rgbClr val="F6E8EC"/>
          </a:solidFill>
          <a:ln w="17780">
            <a:solidFill>
              <a:srgbClr val="C77B9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68680" y="18013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あなたの端末の中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2240280"/>
            <a:ext cx="27432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22402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入力した文章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2898648"/>
            <a:ext cx="27432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289864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3557016"/>
            <a:ext cx="27432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43000" y="355701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保存ファイル生成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4215384"/>
            <a:ext cx="274320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421538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APIキー（非保存）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301752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FBF5F3"/>
          </a:solidFill>
          <a:ln w="16510">
            <a:solidFill>
              <a:srgbClr val="A85A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01752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Anthropic API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（AI使用時のみ）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9080" y="3749040"/>
            <a:ext cx="777240" cy="0"/>
          </a:xfrm>
          <a:prstGeom prst="line">
            <a:avLst/>
          </a:prstGeom>
          <a:noFill/>
          <a:ln w="22860">
            <a:solidFill>
              <a:srgbClr val="A85A7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1325880"/>
            <a:ext cx="4325112" cy="4572000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1481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4つの約束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58952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3524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83880" y="1920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実名・機密は書かない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同僚は役職名で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58952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35240" y="2926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83880" y="28803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入力は端末内のみ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localStorageを持たない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58952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35240" y="38862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83880" y="3840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鍵は保存しない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リロードで消える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589520" y="48463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635240" y="4846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83880" y="48006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生成物は目視確認
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提出・公開の前に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77B9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設計の学び：保守性・可読性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5532120" cy="4572000"/>
          </a:xfrm>
          <a:prstGeom prst="roundRect">
            <a:avLst>
              <a:gd name="adj" fmla="val 2000"/>
            </a:avLst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保守性（変えやすさ）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データ駆動：型をデータ追記で増やす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単一情報源：状態は store の1か所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DRY：共通の素から全出力（重複なし）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純粋関数：核はテストで守れる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5166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機能追加・修正が局所化＝壊しにくい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325880"/>
            <a:ext cx="5513832" cy="4572000"/>
          </a:xfrm>
          <a:prstGeom prst="roundRect">
            <a:avLst>
              <a:gd name="adj" fmla="val 2000"/>
            </a:avLst>
          </a:prstGeom>
          <a:solidFill>
            <a:srgbClr val="EFE7EE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可読性（読みやすさ）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938528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命名：動詞＋対象で役割が分かる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一貫した規約：予測できる書き方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ガード節：早期returnでネスト浅く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意図を残す：なぜを構造・tipに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5166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読み手（未来の自分・同僚）の負担を減らす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5720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77B92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まとめ：持ち帰り3つ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69880" y="566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66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受講生向け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11137392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1600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83080" y="16002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全体像はシンプル　</a:t>
            </a:r>
            <a:pPr indent="0" marL="0">
              <a:buNone/>
            </a:pPr>
            <a:r>
              <a:rPr lang="en-US" sz="13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「定義 → store → 生成 → 出力」の一本道。状態は1か所だけ。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14400" y="24688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468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24688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データ駆動が効く　</a:t>
            </a:r>
            <a:pPr indent="0" marL="0">
              <a:buNone/>
            </a:pPr>
            <a:r>
              <a:rPr lang="en-US" sz="13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型を増やすのは“分岐”ではなく“データ追記”。保守が軽い。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14400" y="33375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33375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33375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AIは任意・透明に　</a:t>
            </a:r>
            <a:pPr indent="0" marL="0">
              <a:buNone/>
            </a:pPr>
            <a:r>
              <a:rPr lang="en-US" sz="13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無くても本体は動く。送る内容を見せ、事実は人が担保する。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6858000" cy="1280160"/>
          </a:xfrm>
          <a:prstGeom prst="roundRect">
            <a:avLst>
              <a:gd name="adj" fmla="val 6429"/>
            </a:avLst>
          </a:prstGeom>
          <a:solidFill>
            <a:srgbClr val="F4EDDD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727448"/>
            <a:ext cx="54864" cy="1060704"/>
          </a:xfrm>
          <a:prstGeom prst="rect">
            <a:avLst/>
          </a:prstGeom>
          <a:solidFill>
            <a:srgbClr val="C2A36A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4727448"/>
            <a:ext cx="6473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次の一歩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6384" y="5129784"/>
            <a:ext cx="6437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自分の業務で“テンプレ化したい文書”を1つ選び、項目とねらいを3〜5個書き出してみる。それが新タイプの設計図になります。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0" y="4617720"/>
            <a:ext cx="409651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18120" y="4709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参考リンク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18120" y="5029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MDN（Fetch / Blob / CSS変数）</a:t>
            </a:r>
            <a:endParaRPr lang="en-US" sz="1050" dirty="0"/>
          </a:p>
          <a:p>
            <a:pPr marL="203200" indent="-2032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Anthropic Messages API（公式）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ご清聴ありがとうございました　／　Q&amp;A　— うさうさ先生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石黒（うさうさ研修工房）</dc:creator>
  <cp:lastModifiedBy>石黒（うさうさ研修工房）</cp:lastModifiedBy>
  <cp:revision>1</cp:revision>
  <dcterms:created xsi:type="dcterms:W3CDTF">2026-06-11T02:53:04Z</dcterms:created>
  <dcterms:modified xsi:type="dcterms:W3CDTF">2026-06-11T02:53:04Z</dcterms:modified>
</cp:coreProperties>
</file>