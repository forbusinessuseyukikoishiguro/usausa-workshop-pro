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。今日は機能の話ではなく『どう書いたら後で楽か（保守性）』『どう書いたら読めるか（可読性）』をこのツールの実コードで解説します。新人は“良い書き方の型”を、中堅は“判断の根拠”を持ち帰っ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2本柱の定義を共有。保守性＝変えやすさ、可読性＝読みやすさ。色分け（ティール/インディゴ/アンバー）で、どちらの話かが一目で分かるようにしている、と説明。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保守性・可読性の話の前提として、全体が単方向の一本道であることを押さえる。状態が1か所・層が分離・上が下を呼ぶだけ、という性質が後半の各観点の効き目を支えている。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保守性の核。switch分岐を増やす書き方は、追加のたびに既存ロジックへ触れて回帰リスクが上がる。このツールは VARIANTS/META/FIELDS にデータを足すだけ。中堅にはOpen/Closed原則の実践例として紹介。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状態が1か所＝デバッグもレビューも楽。様式は④、出力は⑤、と修正対象が一意に決まる。双方向データバインディングのような“どこで書き換わったか分からない”問題が起きにくい。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データ（何を書くか）と振る舞い（どう整形するか）を分離。仕様変更はデータ側、処理改善はロジック側、と変更理由で触る場所が分かれる。これが保守性の王道。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5形式それぞれで整形を書くと、修正が5か所に分散して必ずズレる。共通の中間表現（previewToBlocks）を1つ持ち、各形式はそこからの変換だけにする。DRYの実例。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出力の核を純粋関数で持つと、DOMやAPIに依存せず単体テストが書ける。テストがあると“変更が怖くない”状態になり、保守性が上がる。新人にはまずesc/previewToBlocksからテストを書く練習を勧める。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可読性の第一歩は命名。f1やdoItは中身を読まないと分からない。buildNaibu/previewToBlocksは名前で役割が分かる。ドメイン語で統一すると、コード全体に一貫したボキャブラリーができる。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命名・記法・既定値の扱いを規約として揃える。例：キーは常にlesson.variant.key、見出しは■、箇条書きは・。規約があると“次に何が来るか”が予測でき、読む速度が上がる。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早期returnでネストを浅く保つ。条件のたびに入れ子にすると右へ右へ流れて読みにくい。小さな関数（lines/clean）を合成し、1関数1責務にすると読みやすい。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可読性は「何をしているか」だけでなく「なぜそうしているか」が伝わること。tipに意図を残し、宣言的な定義データがそのまま読める仕様になっている。コメント過多に頼らず構造で語る。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具体的なgood/badで締める。位置依存ではなく型で抽出（将来ブロックが増えても壊れない）、空欄は出さない、状態は一元化。これらが“壊れにくさ＝保守性”と“読みやすさ”の両方に効く。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保守性・可読性の話は“完璧”を主張するものではない。現状の良さと引き換え（テスト/分割のしにくさ）を正直に示し、改善余地を負債の自覚として持つ。これ自体が高保守の姿勢。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両柱のチェックリストで締め。自分のコードに当てはめて1つでも改善できれば収穫。明日から使えるレビュー観点として持ち帰ってもらう。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まとめ。保守性＝変えやすさ、可読性＝読みやすさ。どちらもライブラリではなく日々の小さな選択で決まる。質疑へ。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4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72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E8B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CODE QUALITY ・ 実装解説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保守性・可読性を意識した実装解説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788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報告書＆手順書ファクトリー PRO のコードを、品質の観点から読み解く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97280" y="356616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6F3E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566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 ＝ 変えやすさ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356616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9EEF8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3566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 ＝ 読みやすさ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4251960"/>
            <a:ext cx="9966960" cy="1234440"/>
          </a:xfrm>
          <a:prstGeom prst="roundRect">
            <a:avLst>
              <a:gd name="adj" fmla="val 8889"/>
            </a:avLst>
          </a:prstGeom>
          <a:solidFill>
            <a:srgbClr val="FAFBFC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25880" y="44348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このデッキの約束：　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コードで確認できる事実に基づき、対象は新人・中堅エンジニアの両方。スライド自体も“読みやすさ”を意識して、1枚1テーマ・余白多めで構成しています。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　石黒　／　2026-06-11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7405E"/>
          </a:solidFill>
          <a:ln/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4389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このデッキのゴールと2本柱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83112" cy="0"/>
          </a:xfrm>
          <a:prstGeom prst="line">
            <a:avLst/>
          </a:prstGeom>
          <a:noFill/>
          <a:ln w="15875">
            <a:solidFill>
              <a:srgbClr val="E3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28800"/>
            <a:ext cx="5669280" cy="2057400"/>
          </a:xfrm>
          <a:prstGeom prst="roundRect">
            <a:avLst>
              <a:gd name="adj" fmla="val 5333"/>
            </a:avLst>
          </a:prstGeom>
          <a:solidFill>
            <a:srgbClr val="E6F3E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9933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保守性（Maintainability）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「あとから変えやすい」こと。機能追加・修正・引き継ぎのコストが低い状態。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7280" y="290779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データ駆動／単方向／関心の分離／DRY／純粋関数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069080"/>
            <a:ext cx="5669280" cy="2057400"/>
          </a:xfrm>
          <a:prstGeom prst="roundRect">
            <a:avLst>
              <a:gd name="adj" fmla="val 5333"/>
            </a:avLst>
          </a:prstGeom>
          <a:solidFill>
            <a:srgbClr val="E9EEF8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42336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可読性（Readability）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97280" y="4617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「読んですぐ意図が分かる」こと。命名・規約・小さな関数で認知負荷を下げる。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97280" y="514807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命名／一貫した規約／関数合成／ガード節／意図の記録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78040" y="1481328"/>
            <a:ext cx="4507992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06640" y="20574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前半＝保守性（5観点）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後半＝可読性（4観点）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最後＝改善余地とチェックリスト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178040" y="3886200"/>
            <a:ext cx="4507992" cy="2487168"/>
          </a:xfrm>
          <a:prstGeom prst="roundRect">
            <a:avLst>
              <a:gd name="adj" fmla="val 5147"/>
            </a:avLst>
          </a:prstGeom>
          <a:solidFill>
            <a:srgbClr val="FAFBFC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読み方の目印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06640" y="446227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E6F3EF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44622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9640" y="44622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ティール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06640" y="491947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E9EEF8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4919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49640" y="4919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インディゴ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06640" y="537667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BF2E0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52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49640" y="53766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アンバー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7405E"/>
          </a:solidFill>
          <a:ln/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4389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前提：全体像は「単方向の一本道」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83112" cy="0"/>
          </a:xfrm>
          <a:prstGeom prst="line">
            <a:avLst/>
          </a:prstGeom>
          <a:noFill/>
          <a:ln w="15875">
            <a:solidFill>
              <a:srgbClr val="E3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783080"/>
            <a:ext cx="46634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865376"/>
            <a:ext cx="384048" cy="548640"/>
          </a:xfrm>
          <a:prstGeom prst="roundRect">
            <a:avLst>
              <a:gd name="adj" fmla="val 14286"/>
            </a:avLst>
          </a:prstGeom>
          <a:solidFill>
            <a:srgbClr val="2E8B73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78308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定義データ　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/ VARIANTS / META / FIELDS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03320" y="2496312"/>
            <a:ext cx="0" cy="155448"/>
          </a:xfrm>
          <a:prstGeom prst="line">
            <a:avLst/>
          </a:prstGeom>
          <a:noFill/>
          <a:ln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371600" y="2651760"/>
            <a:ext cx="46634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734056"/>
            <a:ext cx="384048" cy="548640"/>
          </a:xfrm>
          <a:prstGeom prst="roundRect">
            <a:avLst>
              <a:gd name="adj" fmla="val 14286"/>
            </a:avLst>
          </a:prstGeom>
          <a:solidFill>
            <a:srgbClr val="2E8B73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65176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状態 store　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入力を1か所に集約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703320" y="3364992"/>
            <a:ext cx="0" cy="155448"/>
          </a:xfrm>
          <a:prstGeom prst="line">
            <a:avLst/>
          </a:prstGeom>
          <a:noFill/>
          <a:ln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371600" y="3520440"/>
            <a:ext cx="46634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602736"/>
            <a:ext cx="384048" cy="548640"/>
          </a:xfrm>
          <a:prstGeom prst="roundRect">
            <a:avLst>
              <a:gd name="adj" fmla="val 14286"/>
            </a:avLst>
          </a:prstGeom>
          <a:solidFill>
            <a:srgbClr val="3A5BA8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52044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描画　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定義＋状態からUI生成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703320" y="4233672"/>
            <a:ext cx="0" cy="155448"/>
          </a:xfrm>
          <a:prstGeom prst="line">
            <a:avLst/>
          </a:prstGeom>
          <a:noFill/>
          <a:ln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71600" y="4389120"/>
            <a:ext cx="46634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471416"/>
            <a:ext cx="384048" cy="548640"/>
          </a:xfrm>
          <a:prstGeom prst="roundRect">
            <a:avLst>
              <a:gd name="adj" fmla="val 14286"/>
            </a:avLst>
          </a:prstGeom>
          <a:solidFill>
            <a:srgbClr val="3A5BA8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438912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文書生成　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buildDoc ＋ ビルダー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703320" y="5102352"/>
            <a:ext cx="0" cy="155448"/>
          </a:xfrm>
          <a:prstGeom prst="line">
            <a:avLst/>
          </a:prstGeom>
          <a:noFill/>
          <a:ln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371600" y="5257800"/>
            <a:ext cx="46634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5340096"/>
            <a:ext cx="384048" cy="548640"/>
          </a:xfrm>
          <a:prstGeom prst="roundRect">
            <a:avLst>
              <a:gd name="adj" fmla="val 14286"/>
            </a:avLst>
          </a:prstGeom>
          <a:solidFill>
            <a:srgbClr val="27405E"/>
          </a:solidFill>
          <a:ln/>
        </p:spPr>
      </p:sp>
      <p:sp>
        <p:nvSpPr>
          <p:cNvPr id="25" name="Text 23"/>
          <p:cNvSpPr/>
          <p:nvPr/>
        </p:nvSpPr>
        <p:spPr>
          <a:xfrm>
            <a:off x="1508760" y="525780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出力　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5形式へ変換・保存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178040" y="1481328"/>
            <a:ext cx="4507992" cy="4892040"/>
          </a:xfrm>
          <a:prstGeom prst="roundRect">
            <a:avLst>
              <a:gd name="adj" fmla="val 284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06640" y="1645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なぜこの形が“効く”のか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06640" y="214884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状態が store の1か所だけ＝追跡が容易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上の層は下の層を呼ぶだけ＝影響範囲が読める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層ごとに責務が分かれる＝直す場所が一意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06640" y="5120640"/>
            <a:ext cx="4069080" cy="841248"/>
          </a:xfrm>
          <a:prstGeom prst="roundRect">
            <a:avLst>
              <a:gd name="adj" fmla="val 10870"/>
            </a:avLst>
          </a:prstGeom>
          <a:solidFill>
            <a:srgbClr val="E6F3E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0" y="5120640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8B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　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「どこを直すか」が迷わず決まる＝保守性の土台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8B73"/>
          </a:solidFill>
          <a:ln/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4389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データ駆動：型を“データ追記”で増やす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378440" y="60350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6F3EF"/>
          </a:solidFill>
          <a:ln/>
        </p:spPr>
      </p:sp>
      <p:sp>
        <p:nvSpPr>
          <p:cNvPr id="6" name="Text 4"/>
          <p:cNvSpPr/>
          <p:nvPr/>
        </p:nvSpPr>
        <p:spPr>
          <a:xfrm>
            <a:off x="10378440" y="6035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0"/>
          </a:xfrm>
          <a:prstGeom prst="line">
            <a:avLst/>
          </a:prstGeom>
          <a:noFill/>
          <a:ln w="15875">
            <a:solidFill>
              <a:srgbClr val="E3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69164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F7E6E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91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58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 ありがち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084832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2194560"/>
            <a:ext cx="537667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buildDoc(){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switch(variant){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"naibu":  /* …整形… */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"nippo":  /* 追加のたびに分岐が増殖 */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65760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6F3E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576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このツール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050792"/>
            <a:ext cx="5669280" cy="2057400"/>
          </a:xfrm>
          <a:prstGeom prst="roundRect">
            <a:avLst>
              <a:gd name="adj" fmla="val 3556"/>
            </a:avLst>
          </a:prstGeom>
          <a:solidFill>
            <a:srgbClr val="F2F4F7"/>
          </a:solidFill>
          <a:ln w="12700">
            <a:solidFill>
              <a:srgbClr val="2E8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4160520"/>
            <a:ext cx="5376672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ロジックは触らず“定義”を足すだけ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VARIANTS.report.push({v:"nippo", label:"日報"});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META.report.nippo  = {title:"日報", aim:"3行で"};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FIELDS.report.nippo = [ /* 項目… */ ];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 指定で buildGeneric が自動整形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1481328"/>
            <a:ext cx="4507992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06640" y="20574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「分岐を増やす」のではなく「データを宣言する」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新タイプ追加は3〜4手の追記で完結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整形の共通処理は1か所（buildGeneric）に集約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78040" y="4983480"/>
            <a:ext cx="4507992" cy="841248"/>
          </a:xfrm>
          <a:prstGeom prst="roundRect">
            <a:avLst>
              <a:gd name="adj" fmla="val 10870"/>
            </a:avLst>
          </a:prstGeom>
          <a:solidFill>
            <a:srgbClr val="E6F3E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60920" y="4983480"/>
            <a:ext cx="4142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8B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　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機能追加でロジックを壊さない＝回帰リスクが小さい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8B73"/>
          </a:solidFill>
          <a:ln/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4389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単方向データフロー：影響範囲が読める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378440" y="60350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6F3EF"/>
          </a:solidFill>
          <a:ln/>
        </p:spPr>
      </p:sp>
      <p:sp>
        <p:nvSpPr>
          <p:cNvPr id="6" name="Text 4"/>
          <p:cNvSpPr/>
          <p:nvPr/>
        </p:nvSpPr>
        <p:spPr>
          <a:xfrm>
            <a:off x="10378440" y="6035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0"/>
          </a:xfrm>
          <a:prstGeom prst="line">
            <a:avLst/>
          </a:prstGeom>
          <a:noFill/>
          <a:ln w="15875">
            <a:solidFill>
              <a:srgbClr val="E3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80160" y="192024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19202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2651760"/>
            <a:ext cx="0" cy="22860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80160" y="288036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E6F3E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25880" y="2880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store（唯一の状態）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0" y="3611880"/>
            <a:ext cx="0" cy="22860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280160" y="384048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25880" y="3840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buildDoc()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0" y="4572000"/>
            <a:ext cx="0" cy="22860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280160" y="480060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25880" y="4800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プレビュー / 出力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5577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状態は store にしか無い → 値の出どころが一意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78040" y="1481328"/>
            <a:ext cx="4507992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なぜ保守しやすい？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06640" y="20574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バグの値を追うとき store だけ見ればよい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様式変更は④だけ、出力追加は⑤だけ、と局所化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双方向の“こっそり更新”が無く、副作用が予測可能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78040" y="4983480"/>
            <a:ext cx="4507992" cy="841248"/>
          </a:xfrm>
          <a:prstGeom prst="roundRect">
            <a:avLst>
              <a:gd name="adj" fmla="val 10870"/>
            </a:avLst>
          </a:prstGeom>
          <a:solidFill>
            <a:srgbClr val="E6F3E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60920" y="4983480"/>
            <a:ext cx="4142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8B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　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修正の影響範囲が事前に見積もれる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8B73"/>
          </a:solidFill>
          <a:ln/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4389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関心の分離：データと振る舞いを分ける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378440" y="60350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6F3EF"/>
          </a:solidFill>
          <a:ln/>
        </p:spPr>
      </p:sp>
      <p:sp>
        <p:nvSpPr>
          <p:cNvPr id="6" name="Text 4"/>
          <p:cNvSpPr/>
          <p:nvPr/>
        </p:nvSpPr>
        <p:spPr>
          <a:xfrm>
            <a:off x="10378440" y="6035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0"/>
          </a:xfrm>
          <a:prstGeom prst="line">
            <a:avLst/>
          </a:prstGeom>
          <a:noFill/>
          <a:ln w="15875">
            <a:solidFill>
              <a:srgbClr val="E3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828800"/>
            <a:ext cx="2651760" cy="4114800"/>
          </a:xfrm>
          <a:prstGeom prst="roundRect">
            <a:avLst>
              <a:gd name="adj" fmla="val 4138"/>
            </a:avLst>
          </a:prstGeom>
          <a:solidFill>
            <a:srgbClr val="E6F3E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19659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データ（What）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560" y="2423160"/>
            <a:ext cx="2331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VARIANTS（種類）</a:t>
            </a:r>
            <a:endParaRPr lang="en-US" sz="120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META（見出し）</a:t>
            </a:r>
            <a:endParaRPr lang="en-US" sz="120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FIELDS（項目）</a:t>
            </a:r>
            <a:endParaRPr lang="en-US" sz="120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SAMPLES（下書き）</a:t>
            </a:r>
            <a:endParaRPr lang="en-US" sz="120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「何を書くか」を宣言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1880" y="3886200"/>
            <a:ext cx="548640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51960" y="1828800"/>
            <a:ext cx="2560320" cy="4114800"/>
          </a:xfrm>
          <a:prstGeom prst="roundRect">
            <a:avLst>
              <a:gd name="adj" fmla="val 4286"/>
            </a:avLst>
          </a:prstGeom>
          <a:solidFill>
            <a:srgbClr val="E9EEF8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51960" y="19659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振る舞い（How）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34840" y="2423160"/>
            <a:ext cx="2240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makeField（描画）</a:t>
            </a:r>
            <a:endParaRPr lang="en-US" sz="120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buildDoc／ビルダー</a:t>
            </a:r>
            <a:endParaRPr lang="en-US" sz="120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previewToBlocks</a:t>
            </a:r>
            <a:endParaRPr lang="en-US" sz="120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toX（出力変換）</a:t>
            </a:r>
            <a:endParaRPr lang="en-US" sz="120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「どう整形するか」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481328"/>
            <a:ext cx="4507992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分けると何が良い？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06640" y="20574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項目の追加・変更はデータ側だけで完結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整形ロジックは項目が増えても変わらない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レビュー時に「仕様」と「処理」を別々に読める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78040" y="4983480"/>
            <a:ext cx="4507992" cy="841248"/>
          </a:xfrm>
          <a:prstGeom prst="roundRect">
            <a:avLst>
              <a:gd name="adj" fmla="val 10870"/>
            </a:avLst>
          </a:prstGeom>
          <a:solidFill>
            <a:srgbClr val="E6F3E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60920" y="4983480"/>
            <a:ext cx="4142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8B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　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変更理由ごとに触る場所が分かれる＝壊しにくい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8B73"/>
          </a:solidFill>
          <a:ln/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4389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DRY：1つの中間表現から5形式へ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378440" y="60350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6F3EF"/>
          </a:solidFill>
          <a:ln/>
        </p:spPr>
      </p:sp>
      <p:sp>
        <p:nvSpPr>
          <p:cNvPr id="6" name="Text 4"/>
          <p:cNvSpPr/>
          <p:nvPr/>
        </p:nvSpPr>
        <p:spPr>
          <a:xfrm>
            <a:off x="10378440" y="6035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0"/>
          </a:xfrm>
          <a:prstGeom prst="line">
            <a:avLst/>
          </a:prstGeom>
          <a:noFill/>
          <a:ln w="15875">
            <a:solidFill>
              <a:srgbClr val="E3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31720" y="18288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E6F3EF"/>
          </a:solidFill>
          <a:ln w="15875">
            <a:solidFill>
              <a:srgbClr val="2E8B73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77440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previewToBlocks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（共通の素）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17830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0280" y="2057400"/>
            <a:ext cx="91440" cy="182880"/>
          </a:xfrm>
          <a:prstGeom prst="line">
            <a:avLst/>
          </a:prstGeom>
          <a:noFill/>
          <a:ln w="2286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80560" y="306324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Markdown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74720" y="2651760"/>
            <a:ext cx="960120" cy="640080"/>
          </a:xfrm>
          <a:prstGeom prst="line">
            <a:avLst/>
          </a:prstGeom>
          <a:noFill/>
          <a:ln w="1778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80560" y="3630168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26280" y="3630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74720" y="2651760"/>
            <a:ext cx="960120" cy="1207008"/>
          </a:xfrm>
          <a:prstGeom prst="line">
            <a:avLst/>
          </a:prstGeom>
          <a:noFill/>
          <a:ln w="1778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80560" y="4197096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41970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74720" y="2651760"/>
            <a:ext cx="960120" cy="1773936"/>
          </a:xfrm>
          <a:prstGeom prst="line">
            <a:avLst/>
          </a:prstGeom>
          <a:noFill/>
          <a:ln w="1778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480560" y="4764024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26280" y="47640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74720" y="2651760"/>
            <a:ext cx="960120" cy="2340864"/>
          </a:xfrm>
          <a:prstGeom prst="line">
            <a:avLst/>
          </a:prstGeom>
          <a:noFill/>
          <a:ln w="1778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480560" y="5330952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26280" y="53309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74720" y="2651760"/>
            <a:ext cx="960120" cy="2907792"/>
          </a:xfrm>
          <a:prstGeom prst="line">
            <a:avLst/>
          </a:prstGeom>
          <a:noFill/>
          <a:ln w="1778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78040" y="1481328"/>
            <a:ext cx="4507992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0664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重複を作らない設計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06640" y="20574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整形ロジックを形式ごとに重複させない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完成文を一度だけ構造化し、各形式は変換に専念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出力の見た目がブレない・直す箇所が1つ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178040" y="4983480"/>
            <a:ext cx="4507992" cy="841248"/>
          </a:xfrm>
          <a:prstGeom prst="roundRect">
            <a:avLst>
              <a:gd name="adj" fmla="val 10870"/>
            </a:avLst>
          </a:prstGeom>
          <a:solidFill>
            <a:srgbClr val="E6F3E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60920" y="4983480"/>
            <a:ext cx="4142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8B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　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仕様変更が1か所で済む＝DRYの効用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8B73"/>
          </a:solidFill>
          <a:ln/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4389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純粋関数中心：テストしやすさ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378440" y="60350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6F3EF"/>
          </a:solidFill>
          <a:ln/>
        </p:spPr>
      </p:sp>
      <p:sp>
        <p:nvSpPr>
          <p:cNvPr id="6" name="Text 4"/>
          <p:cNvSpPr/>
          <p:nvPr/>
        </p:nvSpPr>
        <p:spPr>
          <a:xfrm>
            <a:off x="10378440" y="6035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0"/>
          </a:xfrm>
          <a:prstGeom prst="line">
            <a:avLst/>
          </a:prstGeom>
          <a:noFill/>
          <a:ln w="15875">
            <a:solidFill>
              <a:srgbClr val="E3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2763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入力→出力が決まる純粋関数（副作用なし）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5669280" cy="603504"/>
          </a:xfrm>
          <a:prstGeom prst="roundRect">
            <a:avLst>
              <a:gd name="adj" fmla="val 12121"/>
            </a:avLst>
          </a:prstGeom>
          <a:solidFill>
            <a:srgbClr val="FAFBFC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2103120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esc(s)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&amp; &lt; &gt; " をエスケープ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2816352"/>
            <a:ext cx="5669280" cy="603504"/>
          </a:xfrm>
          <a:prstGeom prst="roundRect">
            <a:avLst>
              <a:gd name="adj" fmla="val 12121"/>
            </a:avLst>
          </a:prstGeom>
          <a:solidFill>
            <a:srgbClr val="FAFBFC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816352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lines(t)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改行分割・空行除去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529584"/>
            <a:ext cx="5669280" cy="603504"/>
          </a:xfrm>
          <a:prstGeom prst="roundRect">
            <a:avLst>
              <a:gd name="adj" fmla="val 12121"/>
            </a:avLst>
          </a:prstGeom>
          <a:solidFill>
            <a:srgbClr val="FAFBFC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3529584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clean(L)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改行を整える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4242816"/>
            <a:ext cx="5669280" cy="603504"/>
          </a:xfrm>
          <a:prstGeom prst="roundRect">
            <a:avLst>
              <a:gd name="adj" fmla="val 12121"/>
            </a:avLst>
          </a:prstGeom>
          <a:solidFill>
            <a:srgbClr val="FAFBFC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242816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previewToBlocks(t)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完成文を構造化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956048"/>
            <a:ext cx="5669280" cy="603504"/>
          </a:xfrm>
          <a:prstGeom prst="roundRect">
            <a:avLst>
              <a:gd name="adj" fmla="val 12121"/>
            </a:avLst>
          </a:prstGeom>
          <a:solidFill>
            <a:srgbClr val="FAFBFC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4956048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buildStep()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時間の合計と差を算出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78040" y="1481328"/>
            <a:ext cx="4507992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0664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なぜ保守に効く？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06640" y="20574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同じ入力なら同じ出力＝テストが書きやすい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DOMやネットに依存しない＝単体で検証できる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リファクタしても挙動を担保しやすい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78040" y="4983480"/>
            <a:ext cx="4507992" cy="841248"/>
          </a:xfrm>
          <a:prstGeom prst="roundRect">
            <a:avLst>
              <a:gd name="adj" fmla="val 10870"/>
            </a:avLst>
          </a:prstGeom>
          <a:solidFill>
            <a:srgbClr val="E6F3E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60920" y="4983480"/>
            <a:ext cx="4142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8B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　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変更が怖くなくなる（テストで守れる）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5BA8"/>
          </a:solidFill>
          <a:ln/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4389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命名：名前で役割が伝わる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378440" y="60350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9EEF8"/>
          </a:solidFill>
          <a:ln/>
        </p:spPr>
      </p:sp>
      <p:sp>
        <p:nvSpPr>
          <p:cNvPr id="6" name="Text 4"/>
          <p:cNvSpPr/>
          <p:nvPr/>
        </p:nvSpPr>
        <p:spPr>
          <a:xfrm>
            <a:off x="10378440" y="6035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0"/>
          </a:xfrm>
          <a:prstGeom prst="line">
            <a:avLst/>
          </a:prstGeom>
          <a:noFill/>
          <a:ln w="15875">
            <a:solidFill>
              <a:srgbClr val="E3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69164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F7E6E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91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58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 意図不明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084832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2194560"/>
            <a:ext cx="53766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f1(x){ … 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doIt(){ … }   // 何をする？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 = g(k);          // a とは？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333756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6F3E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375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このツール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3730752"/>
            <a:ext cx="5669280" cy="2331720"/>
          </a:xfrm>
          <a:prstGeom prst="roundRect">
            <a:avLst>
              <a:gd name="adj" fmla="val 3137"/>
            </a:avLst>
          </a:prstGeom>
          <a:solidFill>
            <a:srgbClr val="F2F4F7"/>
          </a:solidFill>
          <a:ln w="12700">
            <a:solidFill>
              <a:srgbClr val="3A5B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3840480"/>
            <a:ext cx="5376672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buildNaibu()      // 社内報告を組み立てる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previewToBlocks() // プレビューをブロック列へ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getV(k)/setV(k,v) // 値の取得/保存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ck(k)             // 名前空間つきキーを作る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動詞＋対象で、読めば役割が分かる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78040" y="1481328"/>
            <a:ext cx="4507992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命名の原則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06640" y="20574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「動詞＋対象」で、何をするか分かる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ドメイン語（Naibu/Shagai/Manual）で揃える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略語は意味が一意なものだけ（getV/setV）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78040" y="4983480"/>
            <a:ext cx="4507992" cy="841248"/>
          </a:xfrm>
          <a:prstGeom prst="roundRect">
            <a:avLst>
              <a:gd name="adj" fmla="val 10870"/>
            </a:avLst>
          </a:prstGeom>
          <a:solidFill>
            <a:srgbClr val="E9EEF8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60920" y="4983480"/>
            <a:ext cx="4142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A5B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　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コメントを読まなくても処理が追える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5BA8"/>
          </a:solidFill>
          <a:ln/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4389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一貫した規約：迷いを生まない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378440" y="60350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9EEF8"/>
          </a:solidFill>
          <a:ln/>
        </p:spPr>
      </p:sp>
      <p:sp>
        <p:nvSpPr>
          <p:cNvPr id="6" name="Text 4"/>
          <p:cNvSpPr/>
          <p:nvPr/>
        </p:nvSpPr>
        <p:spPr>
          <a:xfrm>
            <a:off x="10378440" y="6035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0"/>
          </a:xfrm>
          <a:prstGeom prst="line">
            <a:avLst/>
          </a:prstGeom>
          <a:noFill/>
          <a:ln w="15875">
            <a:solidFill>
              <a:srgbClr val="E3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2763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同じことは、いつも同じ書き方で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AFBFC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21031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ストアキー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lesson.variant.key で常に名前空間化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2852928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AFBFC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85292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内部記法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= 見出し ／ ・ = 箇条書き で統一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602736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AFBFC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360273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ビルダー名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build＋対象（Naibu/Shagai/Manual…）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4352544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AFBFC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35254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出力変換名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to＋形式（toMarkdown/toCSV…）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5102352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AFBFC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510235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既定値</a:t>
            </a:r>
            <a:endParaRPr lang="en-US" sz="12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未設定は空文字／配列は空N行で正規化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78040" y="1481328"/>
            <a:ext cx="4507992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0664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規約があると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06640" y="20574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次に何が来るか予測できる＝速く読める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新しいコードも同じ型で書ける＝ブレない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レビューで“流儀の差”を指摘せずに済む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78040" y="4983480"/>
            <a:ext cx="4507992" cy="841248"/>
          </a:xfrm>
          <a:prstGeom prst="roundRect">
            <a:avLst>
              <a:gd name="adj" fmla="val 10870"/>
            </a:avLst>
          </a:prstGeom>
          <a:solidFill>
            <a:srgbClr val="E9EEF8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60920" y="4983480"/>
            <a:ext cx="4142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A5B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　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規約＝チームの共通言語。学習コストが下がる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5BA8"/>
          </a:solidFill>
          <a:ln/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4389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小さな関数の合成 ＋ ガード節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378440" y="60350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9EEF8"/>
          </a:solidFill>
          <a:ln/>
        </p:spPr>
      </p:sp>
      <p:sp>
        <p:nvSpPr>
          <p:cNvPr id="6" name="Text 4"/>
          <p:cNvSpPr/>
          <p:nvPr/>
        </p:nvSpPr>
        <p:spPr>
          <a:xfrm>
            <a:off x="10378440" y="6035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0"/>
          </a:xfrm>
          <a:prstGeom prst="line">
            <a:avLst/>
          </a:prstGeom>
          <a:noFill/>
          <a:ln w="15875">
            <a:solidFill>
              <a:srgbClr val="E3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69164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F7E6E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91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58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 ネスト深い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084832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2194560"/>
            <a:ext cx="537667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sec(L,label,val){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if(val){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L.push("■ "+label);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…本文… 入れ子が深くなる */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6118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6F3E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118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このツール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005072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F2F4F7"/>
          </a:solidFill>
          <a:ln w="12700">
            <a:solidFill>
              <a:srgbClr val="3A5B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4114800"/>
            <a:ext cx="537667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sec(L,label,val,mode){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if(!val) return;            // ガード節で早期return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L.push("■ "+label);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lines(val).forEach(x =&gt;     // 小さな関数を合成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L.push(mode==="bullets"?"・"+x:"　"+x));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1481328"/>
            <a:ext cx="4507992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読みやすさの工夫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06640" y="20574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ガード節（if(!val) return）でネストを浅く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lines/clean など小さな部品を組み合わせる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1関数＝1つの仕事に絞る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78040" y="4983480"/>
            <a:ext cx="4507992" cy="841248"/>
          </a:xfrm>
          <a:prstGeom prst="roundRect">
            <a:avLst>
              <a:gd name="adj" fmla="val 10870"/>
            </a:avLst>
          </a:prstGeom>
          <a:solidFill>
            <a:srgbClr val="E9EEF8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60920" y="4983480"/>
            <a:ext cx="4142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A5B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　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視線が右に流れない＝一目で構造が分かる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5BA8"/>
          </a:solidFill>
          <a:ln/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4389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意図を残す：tip・既定値・宣言的データ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378440" y="60350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9EEF8"/>
          </a:solidFill>
          <a:ln/>
        </p:spPr>
      </p:sp>
      <p:sp>
        <p:nvSpPr>
          <p:cNvPr id="6" name="Text 4"/>
          <p:cNvSpPr/>
          <p:nvPr/>
        </p:nvSpPr>
        <p:spPr>
          <a:xfrm>
            <a:off x="10378440" y="6035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0"/>
          </a:xfrm>
          <a:prstGeom prst="line">
            <a:avLst/>
          </a:prstGeom>
          <a:noFill/>
          <a:ln w="15875">
            <a:solidFill>
              <a:srgbClr val="E3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828800"/>
            <a:ext cx="5669280" cy="219456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1938528"/>
            <a:ext cx="537667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key:"concl", type:"textarea", label:"結論",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tip:"先に言い切る",   // ← なぜ書くかを残す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out:"para" 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データを読むだけで「項目・意図・整形」が分かる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仕様がコードの“外（定義）”に見える形で表れる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2976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tip が「なぜこの項目があるか」を説明する</a:t>
            </a:r>
            <a:endParaRPr lang="en-US" sz="130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宣言的な定義が、そのまま“読める仕様書”になる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78040" y="1481328"/>
            <a:ext cx="4507992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意図が見えると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06640" y="20574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後任が「なぜこうなっているか」を理解できる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コメントではなく構造で意図を表現できる</a:t>
            </a:r>
            <a:endParaRPr lang="en-US" sz="1400" dirty="0"/>
          </a:p>
          <a:p>
            <a:pPr marL="203200" indent="-2032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宣言的データは仕様とコードの距離を縮める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78040" y="4983480"/>
            <a:ext cx="4507992" cy="841248"/>
          </a:xfrm>
          <a:prstGeom prst="roundRect">
            <a:avLst>
              <a:gd name="adj" fmla="val 10870"/>
            </a:avLst>
          </a:prstGeom>
          <a:solidFill>
            <a:srgbClr val="E9EEF8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60920" y="4983480"/>
            <a:ext cx="4142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A5B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　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“なぜ”が残る＝引き継ぎが速い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7405E"/>
          </a:solidFill>
          <a:ln/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4389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アンチパターン回避：壊れにくい書き方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83112" cy="0"/>
          </a:xfrm>
          <a:prstGeom prst="line">
            <a:avLst/>
          </a:prstGeom>
          <a:noFill/>
          <a:ln w="15875">
            <a:solidFill>
              <a:srgbClr val="E3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11183112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48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レスポンス抽出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880360" y="17830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7E6E4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63240" y="18745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0584F"/>
                </a:solidFill>
              </a:rPr>
              <a:t>✗ 避けたい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data.content[0].text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7830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6F3E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0880" y="18745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E8B73"/>
                </a:solidFill>
              </a:rPr>
              <a:t>✓ このツール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filter(b=&gt;b.type==="text")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空欄の扱い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880360" y="32918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7E6E4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63240" y="33832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0584F"/>
                </a:solidFill>
              </a:rPr>
              <a:t>✗ 避けたい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空でも見出しを出す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32918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6F3E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0" y="33832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E8B73"/>
                </a:solidFill>
              </a:rPr>
              <a:t>✓ このツール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if(!val) return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166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状態の所在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880360" y="480060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7E6E4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63240" y="48920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0584F"/>
                </a:solidFill>
              </a:rPr>
              <a:t>✗ 避けたい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あちこちに変数が散る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480060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6F3E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0" y="48920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E8B73"/>
                </a:solidFill>
              </a:rPr>
              <a:t>✓ このツール
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73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に一元化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B8791F"/>
          </a:solidFill>
          <a:ln/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4389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改善余地：さらに上げるなら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378440" y="60350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F2E0"/>
          </a:solidFill>
          <a:ln/>
        </p:spPr>
      </p:sp>
      <p:sp>
        <p:nvSpPr>
          <p:cNvPr id="6" name="Text 4"/>
          <p:cNvSpPr/>
          <p:nvPr/>
        </p:nvSpPr>
        <p:spPr>
          <a:xfrm>
            <a:off x="10378440" y="6035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52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83112" cy="0"/>
          </a:xfrm>
          <a:prstGeom prst="line">
            <a:avLst/>
          </a:prstGeom>
          <a:noFill/>
          <a:ln w="15875">
            <a:solidFill>
              <a:srgbClr val="E3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78308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BF2E0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2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7830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テスト外部化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純粋関数（previewToBlocks等）を独立ファイルで自動テスト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269748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BF2E0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2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6974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CSSの一本化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複数回の :root 定義を最終テーマへ統合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61188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BF2E0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2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611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責務の分割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純粋な生成と DOM 結線（副作用）を分離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52628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BF2E0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4681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2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5262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i18n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画面文言を定義から分離して多言語対応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544068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BF2E0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5596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2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4406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エラー細粒度　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AI失敗を原因別（認証/通信/モデル）に表示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78040" y="1481328"/>
            <a:ext cx="4507992" cy="4892040"/>
          </a:xfrm>
          <a:prstGeom prst="roundRect">
            <a:avLst>
              <a:gd name="adj" fmla="val 284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6640" y="16459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正直に持つ視点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06640" y="21031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単一HTML・依存ゼロは強みだが、テスト導入やモジュール分割がしにくいという引き換えがある。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06640" y="3383280"/>
            <a:ext cx="4069080" cy="2834640"/>
          </a:xfrm>
          <a:prstGeom prst="roundRect">
            <a:avLst>
              <a:gd name="adj" fmla="val 3226"/>
            </a:avLst>
          </a:prstGeom>
          <a:solidFill>
            <a:srgbClr val="FAFBFC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8952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中堅向けメッセージ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589520" y="393192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「何を捨てて何を得たか」を言語化しておくと、次の改修やレビューでブレない。改善余地は“負債の自覚”であって欠点ではなく、保守性を上げる地図になる。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7405E"/>
          </a:solidFill>
          <a:ln/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4389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持ち帰り：保守性・可読性チェックリスト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83112" cy="0"/>
          </a:xfrm>
          <a:prstGeom prst="line">
            <a:avLst/>
          </a:prstGeom>
          <a:noFill/>
          <a:ln w="15875">
            <a:solidFill>
              <a:srgbClr val="E3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5577840" cy="4892040"/>
          </a:xfrm>
          <a:prstGeom prst="roundRect">
            <a:avLst>
              <a:gd name="adj" fmla="val 2243"/>
            </a:avLst>
          </a:prstGeom>
          <a:solidFill>
            <a:srgbClr val="E6F3E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45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機能追加はデータ追記で済むか（分岐を増やさない）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状態は1か所に集約されているか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変更理由ごとに触る場所が分かれているか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重複する処理を共通化しているか（DRY）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核となる処理は純粋関数でテストできるか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481328"/>
            <a:ext cx="5513832" cy="4892040"/>
          </a:xfrm>
          <a:prstGeom prst="roundRect">
            <a:avLst>
              <a:gd name="adj" fmla="val 2243"/>
            </a:avLst>
          </a:prstGeom>
          <a:solidFill>
            <a:srgbClr val="E9EEF8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645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2148840"/>
            <a:ext cx="4983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名前で役割が伝わるか（動詞＋対象）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同じことを同じ書き方で（規約の一貫性）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ガード節でネストを浅く保てているか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1関数1責務になっているか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“なぜ”が構造やtipに残っているか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74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A7B5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72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40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9966960" cy="1097280"/>
          </a:xfrm>
          <a:prstGeom prst="roundRect">
            <a:avLst>
              <a:gd name="adj" fmla="val 10000"/>
            </a:avLst>
          </a:prstGeom>
          <a:solidFill>
            <a:srgbClr val="E6F3E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25880" y="201168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5C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　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データ駆動・単方向・関心の分離・DRY・純粋関数で「変えやすく」する。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3246120"/>
            <a:ext cx="9966960" cy="1097280"/>
          </a:xfrm>
          <a:prstGeom prst="roundRect">
            <a:avLst>
              <a:gd name="adj" fmla="val 10000"/>
            </a:avLst>
          </a:prstGeom>
          <a:solidFill>
            <a:srgbClr val="E9EEF8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12700" dir="5400000">
              <a:srgbClr val="AAB4C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25880" y="324612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A3F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　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命名・一貫した規約・小さな関数・ガード節・意図の記録で「読みやすく」する。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A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どちらも特別なライブラリは要らない。日々の「ちょっとした選択」の積み重ねが、コードの寿命を決める。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97280" y="5532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　石黒　／　面白きこともなき世を面白く（高杉晋作）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保守性・可読性を意識した実装解説</dc:title>
  <dc:subject>PptxGenJS Presentation</dc:subject>
  <dc:creator>石黒（うさうさ研修工房）</dc:creator>
  <cp:lastModifiedBy>石黒（うさうさ研修工房）</cp:lastModifiedBy>
  <cp:revision>1</cp:revision>
  <dcterms:created xsi:type="dcterms:W3CDTF">2026-06-11T02:18:12Z</dcterms:created>
  <dcterms:modified xsi:type="dcterms:W3CDTF">2026-06-11T02:18:12Z</dcterms:modified>
</cp:coreProperties>
</file>