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表紙。フリーランス/副業ポートフォリオ。専門は『新人に伝わるIT研修』。人事・採用担当が最初の数秒で“何ができる人か”を掴めるように。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バリュープロポジション。人事向けに“何の価値か”を1文で。3強み＝伝え方・内製力・現場感。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提供メニュー。人事が“何を発注できるか”を一覧で。研修だけでなくツール内製・ドキュメント・発信まで一気通貫。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差別化の核＝伝え方。4階層（定義→たとえ→詳細→一言）とWHY→WHAT→HOW。比喩（ラーメン店）で直感化。人事には“脱落しにくい”という価値で訴求。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差別化②＝内製力。スライド/演習/ツール/ドキュメント/記事を自作。発注側メリット＝速い・一貫・現場反映。単一HTMLは配布が楽。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成果物＝能力の証拠。実物（ツール・デッキ・ドキュメント・記事）を提示。数値実績は本人が事実を記入（捏造しない方針を明記）。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スキルは“主張”でなく“証拠”。各スキルを実際の成果物に紐づけ。資格・経歴は自己申告と明記し、検証は提出先で。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人物・経歴。屋号・発信は確定。資格/職歴は自己申告と明示（嘘をつかない）。提出先で事実確認・更新を促す。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発注後のイメージを人事向けに。工程を分解。必要な工程だけの部分依頼OK・リモート完結可、で発注のハードルを下げる。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稼働条件は記入欄。料金・時間・開始時期は本人が実数を記入（捏造しない）。副業前提なので夜/土日/リモートを想定した例を提示。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まとめ＝選ぶ理由4つ。最後の“誠実な情報設計（盛らない）”は信頼の差別化として効く。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お問い合わせ。連絡先・各URLは記入欄。部分依頼歓迎を再度。タグラインで締め。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77B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3279"/>
            </a:avLst>
          </a:prstGeom>
          <a:solidFill>
            <a:srgbClr val="FBF5F3"/>
          </a:solidFill>
          <a:ln/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97280" y="2286000"/>
            <a:ext cx="2011680" cy="0"/>
          </a:xfrm>
          <a:prstGeom prst="line">
            <a:avLst/>
          </a:prstGeom>
          <a:noFill/>
          <a:ln w="19050">
            <a:solidFill>
              <a:srgbClr val="C2A3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280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PORTFOLIO ・ 副業／フリーランス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24231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新人エンジニアに“伝わる”</a:t>
            </a:r>
            <a:endParaRPr lang="en-US" sz="36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IT研修をつくる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972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 ・ 教材内製 ・ 実施 ・ 研修ツール開発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475488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7548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475488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F4EDDD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47548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石黒（うさうさ先生）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5440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Qiita ／ Zenn ／ note ／ MENTA で発信・メンタリング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ひとことで言うと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1137392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「文系・新人にも“伝わる”IT研修を、企画から教材内製・実施まで一気通貫で。」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“難しいことを、難しいまま教えない”を信条に、つまずきポイントから逆算した教材をつくります。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4114800"/>
            <a:ext cx="457200" cy="54864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伝え方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4754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比喩と段階説明で、専門用語が苦手な人にも腹落ちさせる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88536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17136" y="4114800"/>
            <a:ext cx="457200" cy="54864"/>
          </a:xfrm>
          <a:prstGeom prst="rect">
            <a:avLst/>
          </a:prstGeom>
          <a:solidFill>
            <a:srgbClr val="8A6A86"/>
          </a:solidFill>
          <a:ln/>
        </p:spPr>
      </p:sp>
      <p:sp>
        <p:nvSpPr>
          <p:cNvPr id="14" name="Text 12"/>
          <p:cNvSpPr/>
          <p:nvPr/>
        </p:nvSpPr>
        <p:spPr>
          <a:xfrm>
            <a:off x="4517136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内製力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17136" y="4754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研修ツール・スライド・ドキュメントを自分で作れる（速い・一貫）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28432" y="388620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7032" y="4114800"/>
            <a:ext cx="457200" cy="54864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18" name="Text 16"/>
          <p:cNvSpPr/>
          <p:nvPr/>
        </p:nvSpPr>
        <p:spPr>
          <a:xfrm>
            <a:off x="8257032" y="4251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現場感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57032" y="475488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新人がどこでつまずくかを踏まえて設計する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提供できること（サービス）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6459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A85A7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新卒・新人IT研修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企画・カリキュラム設計・登壇・サブ講師。文系/未経験者にも伝わる進行。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6459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6459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A85A7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15819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教材・スライド制作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7040880" y="196596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研修スライド、ワーク、確認テスト、講師用ファシリ資料を内製。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98648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1272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1272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A85A7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研修支援ツール開発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417320" y="344728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単一HTML・オフラインで動く実務／演習ツールを内製（依存ゼロで配布容易）。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2898648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55080" y="3127248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12724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A85A7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40880" y="30632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技術ドキュメント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040880" y="344728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設計書・手順書・解説記事。難易度別（新人／中堅）に書き分け可能。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4379976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460857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460857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A85A7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7320" y="4544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メンタリング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417320" y="492861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MENTA等での個別指導。学習設計と伴走。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172200" y="4379976"/>
            <a:ext cx="544068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55080" y="460857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460857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A85A7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040880" y="4544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技術発信・登壇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040880" y="492861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Qiita／Zenn／note での記事化、勉強会向け資料作成。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専門性①：新人に“伝わる”教え方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813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4段階で「腹落ち」させる説明設計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1828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定義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96596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まず正確に（短く）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783080" y="2569464"/>
            <a:ext cx="0" cy="146304"/>
          </a:xfrm>
          <a:prstGeom prst="line">
            <a:avLst/>
          </a:prstGeom>
          <a:noFill/>
          <a:ln w="2032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68680" y="2715768"/>
            <a:ext cx="1828800" cy="603504"/>
          </a:xfrm>
          <a:prstGeom prst="roundRect">
            <a:avLst>
              <a:gd name="adj" fmla="val 13636"/>
            </a:avLst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715768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たとえ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71576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身近な比喩で直感的に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83080" y="3319272"/>
            <a:ext cx="0" cy="146304"/>
          </a:xfrm>
          <a:prstGeom prst="line">
            <a:avLst/>
          </a:prstGeom>
          <a:noFill/>
          <a:ln w="2032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3465576"/>
            <a:ext cx="1828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46557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詳細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34640" y="34655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仕組みを一段深く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783080" y="4069080"/>
            <a:ext cx="0" cy="146304"/>
          </a:xfrm>
          <a:prstGeom prst="line">
            <a:avLst/>
          </a:prstGeom>
          <a:noFill/>
          <a:ln w="2032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" y="4215384"/>
            <a:ext cx="182880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21538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一言まとめ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421538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持ち帰る一文に圧縮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68680" y="50749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構成は WHY → WHAT → HOW の順（なぜ大事か→何か→どうやるか）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58952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例：比喩で伝える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9520" y="1920240"/>
            <a:ext cx="3886200" cy="2011680"/>
          </a:xfrm>
          <a:prstGeom prst="roundRect">
            <a:avLst>
              <a:gd name="adj" fmla="val 4091"/>
            </a:avLst>
          </a:prstGeom>
          <a:solidFill>
            <a:srgbClr val="F6E8EC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9520" y="2029968"/>
            <a:ext cx="54864" cy="1792224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27" name="Text 25"/>
          <p:cNvSpPr/>
          <p:nvPr/>
        </p:nvSpPr>
        <p:spPr>
          <a:xfrm>
            <a:off x="7827264" y="202996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「うさうさラーメン店」モデル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27264" y="2432304"/>
            <a:ext cx="346557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メニュー＝種類、注文票＝入力、厨房＝処理、提供＝表示、持ち帰り＝保存。プログラムの流れを“一本道”で直感化。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589520" y="4069080"/>
            <a:ext cx="3886200" cy="1645920"/>
          </a:xfrm>
          <a:prstGeom prst="roundRect">
            <a:avLst>
              <a:gd name="adj" fmla="val 5000"/>
            </a:avLst>
          </a:prstGeom>
          <a:solidFill>
            <a:srgbClr val="F4EDDD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0" y="4178808"/>
            <a:ext cx="54864" cy="1426464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31" name="Text 29"/>
          <p:cNvSpPr/>
          <p:nvPr/>
        </p:nvSpPr>
        <p:spPr>
          <a:xfrm>
            <a:off x="7827264" y="417880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人事の方へ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827264" y="4581144"/>
            <a:ext cx="346557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専門用語に頼らない設計なので、文系・未経験の新人でも脱落しにくい研修になります。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専門性②：教材・ツールを“内製”できる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6675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4813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研修に必要なものを、自分で形にする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965960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研修スライド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登壇用・新人/中堅の難易度別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267919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679192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679192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演習・確認テスト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手を動かすワーク、想定問答集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339242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392424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392424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研修支援ツール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単一HTML・オフライン動作・依存ゼロ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4105656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105656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設計書・手順書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実装仕様/詳細設計、運用ドキュメント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" y="481888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81888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8188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解説記事　</a:t>
            </a:r>
            <a:pPr indent="0" marL="0">
              <a:buNone/>
            </a:pPr>
            <a:r>
              <a:rPr lang="en-US" sz="11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Qiita/Zennでの公開記事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60920" y="1325880"/>
            <a:ext cx="4325112" cy="4572000"/>
          </a:xfrm>
          <a:prstGeom prst="roundRect">
            <a:avLst>
              <a:gd name="adj" fmla="val 253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589520" y="14813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内製のメリット（発注側）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89520" y="192024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外注の往復が減り、スピードが速い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研修・教材・ツールの世界観が一貫する</a:t>
            </a:r>
            <a:endParaRPr lang="en-US" sz="1300" dirty="0"/>
          </a:p>
          <a:p>
            <a:pPr marL="203200" indent="-203200">
              <a:lnSpc>
                <a:spcPct val="100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現場の声をその場で教材へ反映できる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589520" y="4206240"/>
            <a:ext cx="3886200" cy="1508760"/>
          </a:xfrm>
          <a:prstGeom prst="roundRect">
            <a:avLst>
              <a:gd name="adj" fmla="val 5455"/>
            </a:avLst>
          </a:prstGeom>
          <a:solidFill>
            <a:srgbClr val="F4EDDD"/>
          </a:solidFill>
          <a:ln/>
        </p:spPr>
      </p:sp>
      <p:sp>
        <p:nvSpPr>
          <p:cNvPr id="26" name="Shape 24"/>
          <p:cNvSpPr/>
          <p:nvPr/>
        </p:nvSpPr>
        <p:spPr>
          <a:xfrm>
            <a:off x="7589520" y="4315968"/>
            <a:ext cx="54864" cy="1289304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27" name="Text 25"/>
          <p:cNvSpPr/>
          <p:nvPr/>
        </p:nvSpPr>
        <p:spPr>
          <a:xfrm>
            <a:off x="7827264" y="4315968"/>
            <a:ext cx="3502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技術的な裏付け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27264" y="4718304"/>
            <a:ext cx="346557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フレームワーク不要の単一HTMLで作るため、配布・動作確認が容易（インストール不要）。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成果物（“作れること”の証拠）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18488"/>
            <a:ext cx="1453896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18488"/>
            <a:ext cx="1453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研修支援ツール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報告書＆手順書ファクトリー PRO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単一HTML・オフライン・依存ゼロ。AIは任意(BYOK)。文書14種・5形式出力。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618488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1848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研修スライド一式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05740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保守性・可読性／SHIFT AI勉強会 ほか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26517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新人・中堅の難易度別、受講生用＋講師用ファシリ資料まで。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58768"/>
            <a:ext cx="1609344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58768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技術ドキュメント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4297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実装仕様書・詳細設計書・解説記事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77240" y="4892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新人/中堅向けに書き分け。図解・コード・参考文献つき。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6576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858768"/>
            <a:ext cx="987552" cy="310896"/>
          </a:xfrm>
          <a:prstGeom prst="roundRect">
            <a:avLst>
              <a:gd name="adj" fmla="val 50000"/>
            </a:avLst>
          </a:prstGeom>
          <a:solidFill>
            <a:srgbClr val="F6E8E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85876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技術発信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429768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Qiita ／ Zenn ／ note.com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00800" y="48920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実装解説・教育コンテンツを継続的に公開。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実施件数・受講者数・満足度などの実績数値は、提出先に合わせてご記入ください（事実のみ記載）。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スキル（成果物に裏づけられた）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1137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600200"/>
            <a:ext cx="3200400" cy="438912"/>
          </a:xfrm>
          <a:prstGeom prst="rect">
            <a:avLst/>
          </a:prstGeom>
          <a:solidFill>
            <a:srgbClr val="C77B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0020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スキル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69080" y="1600200"/>
            <a:ext cx="4846320" cy="438912"/>
          </a:xfrm>
          <a:prstGeom prst="rect">
            <a:avLst/>
          </a:prstGeom>
          <a:solidFill>
            <a:srgbClr val="C77B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60020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15400" y="1600200"/>
            <a:ext cx="2651760" cy="438912"/>
          </a:xfrm>
          <a:prstGeom prst="rect">
            <a:avLst/>
          </a:prstGeom>
          <a:solidFill>
            <a:srgbClr val="C77B9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60020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裏づけ（成果物）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039112"/>
            <a:ext cx="3200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209397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研修設計・登壇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069080" y="2039112"/>
            <a:ext cx="4846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78808" y="209397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カリキュラム設計、進行、サブ講師、難易度別の教材化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915400" y="2039112"/>
            <a:ext cx="2651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5128" y="209397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研修スライド群・ファシリ資料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868680" y="2642616"/>
            <a:ext cx="320040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2697480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“伝わる”教材設計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069080" y="2642616"/>
            <a:ext cx="484632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78808" y="269748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比喩・4段階説明・WHY→WHAT→HOW構成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915400" y="2642616"/>
            <a:ext cx="265176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25128" y="2697480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新人向けデッキ・解説記事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68680" y="3246120"/>
            <a:ext cx="3200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08" y="3300984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フロントエンド(内製)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069080" y="3246120"/>
            <a:ext cx="4846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78808" y="330098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バニラJS・単一HTML・データ駆動・オフライン設計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915400" y="3246120"/>
            <a:ext cx="2651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25128" y="3300984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報告書＆手順書ファクトリー PRO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868680" y="3849624"/>
            <a:ext cx="320040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" y="3904488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ドキュメンテーション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069080" y="3849624"/>
            <a:ext cx="484632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78808" y="39044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仕様書・詳細設計・手順書（新人/中堅書き分け）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915400" y="3849624"/>
            <a:ext cx="265176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25128" y="3904488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実装仕様書・設計書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868680" y="4453128"/>
            <a:ext cx="32004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8408" y="4507992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Linux／インフラ基礎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4069080" y="4453128"/>
            <a:ext cx="48463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78808" y="450799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LPIC-2（自己申告）。サーバ基礎の指導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8915400" y="4453128"/>
            <a:ext cx="265176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025128" y="4507992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LPIC教材・解説（自己申告）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868680" y="5056632"/>
            <a:ext cx="320040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8408" y="5111496"/>
            <a:ext cx="3017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AI活用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4069080" y="5056632"/>
            <a:ext cx="484632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78808" y="511149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AIを“任意・透明・安全”に組み込む設計、業務への応用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8915400" y="5056632"/>
            <a:ext cx="2651760" cy="603504"/>
          </a:xfrm>
          <a:prstGeom prst="rect">
            <a:avLst/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025128" y="5111496"/>
            <a:ext cx="2468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08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AI任意組込ツール・記事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※「自己申告」項目（資格・経歴）は、提出先で最新の事実をご確認・更新ください。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人物・経歴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553212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4813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プロフィール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202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屋号 / 名義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77440" y="19202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／ うさうさ先生（石黒）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77440" y="24871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IT研修講師・教材/ツール制作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05409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377440" y="3054096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Qiita ／ Zenn ／ note.com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62102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メンタリング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77440" y="36210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MENTA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41879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E4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信条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377440" y="41879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面白きこともなき世を面白く（高杉晋作）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325880"/>
            <a:ext cx="551383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481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自己申告の経歴・資格（要確認）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0" y="19659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保有資格：LPIC-2（自己申告／提出先で要確認）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前職：ゲーム業界でのQA（品質保証）経験（自己申告）</a:t>
            </a:r>
            <a:endParaRPr lang="en-US" sz="1250" dirty="0"/>
          </a:p>
          <a:p>
            <a:pPr marL="203200" indent="-2032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現在：IT研修講師として登壇・教材制作（自己申告）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0" y="4206240"/>
            <a:ext cx="5074920" cy="1508760"/>
          </a:xfrm>
          <a:prstGeom prst="roundRect">
            <a:avLst>
              <a:gd name="adj" fmla="val 5455"/>
            </a:avLst>
          </a:prstGeom>
          <a:solidFill>
            <a:srgbClr val="FBF5F3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4315968"/>
            <a:ext cx="54864" cy="1289304"/>
          </a:xfrm>
          <a:prstGeom prst="rect">
            <a:avLst/>
          </a:prstGeom>
          <a:solidFill>
            <a:srgbClr val="8B7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638544" y="4315968"/>
            <a:ext cx="4690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記載方針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38544" y="4718304"/>
            <a:ext cx="465429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経歴・資格は本人の自己申告です。提出前に最新の事実で更新し、検証可能な範囲で記載してください。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ご依頼から納品までの進め方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1137392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8745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①ヒアリング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対象・目的・到達点を確認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0" y="2304288"/>
            <a:ext cx="246888" cy="0"/>
          </a:xfrm>
          <a:prstGeom prst="line">
            <a:avLst/>
          </a:prstGeom>
          <a:noFill/>
          <a:ln w="2286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90088" y="18745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35808" y="18745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②設計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44368" y="2834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カリキュラム/教材の構成案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64608" y="2304288"/>
            <a:ext cx="246888" cy="0"/>
          </a:xfrm>
          <a:prstGeom prst="line">
            <a:avLst/>
          </a:prstGeom>
          <a:noFill/>
          <a:ln w="2286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111496" y="18745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6E8EC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57216" y="18745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③制作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65776" y="2834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スライド・演習・ツールを内製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86016" y="2304288"/>
            <a:ext cx="246888" cy="0"/>
          </a:xfrm>
          <a:prstGeom prst="line">
            <a:avLst/>
          </a:prstGeom>
          <a:noFill/>
          <a:ln w="2286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32904" y="18745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78624" y="18745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④実施/納品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87184" y="2834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登壇 or 教材一式を納品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07424" y="2304288"/>
            <a:ext cx="246888" cy="0"/>
          </a:xfrm>
          <a:prstGeom prst="line">
            <a:avLst/>
          </a:prstGeom>
          <a:noFill/>
          <a:ln w="22860">
            <a:solidFill>
              <a:srgbClr val="C77B9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54312" y="1874520"/>
            <a:ext cx="187452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00032" y="187452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⑤ふりかえり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08592" y="283464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アンケート・改善提案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4EDDD"/>
          </a:solidFill>
          <a:ln/>
        </p:spPr>
      </p:sp>
      <p:sp>
        <p:nvSpPr>
          <p:cNvPr id="26" name="Shape 24"/>
          <p:cNvSpPr/>
          <p:nvPr/>
        </p:nvSpPr>
        <p:spPr>
          <a:xfrm>
            <a:off x="548640" y="4727448"/>
            <a:ext cx="54864" cy="1060704"/>
          </a:xfrm>
          <a:prstGeom prst="rect">
            <a:avLst/>
          </a:prstGeom>
          <a:solidFill>
            <a:srgbClr val="C2A36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727448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065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柔軟に対応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86384" y="5129784"/>
            <a:ext cx="49743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「登壇のみ」「教材のみ」「ツール開発のみ」など、必要な工程だけのご依頼も歓迎です。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4617720"/>
            <a:ext cx="5513832" cy="1280160"/>
          </a:xfrm>
          <a:prstGeom prst="roundRect">
            <a:avLst>
              <a:gd name="adj" fmla="val 6429"/>
            </a:avLst>
          </a:prstGeom>
          <a:solidFill>
            <a:srgbClr val="F6E8EC"/>
          </a:solidFill>
          <a:ln/>
        </p:spPr>
      </p:sp>
      <p:sp>
        <p:nvSpPr>
          <p:cNvPr id="30" name="Shape 28"/>
          <p:cNvSpPr/>
          <p:nvPr/>
        </p:nvSpPr>
        <p:spPr>
          <a:xfrm>
            <a:off x="6172200" y="4727448"/>
            <a:ext cx="54864" cy="1060704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9944" y="4727448"/>
            <a:ext cx="5129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オンライン完結も可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09944" y="5129784"/>
            <a:ext cx="50932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00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ヒアリング〜納品までリモートで完結できます（対面・ハイブリッドも相談可）。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稼働条件（副業として）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11137392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81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以下は記入欄です。提出先に合わせて、ご自身の実際の条件を記入してください。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011680"/>
            <a:ext cx="2377440" cy="603504"/>
          </a:xfrm>
          <a:prstGeom prst="roundRect">
            <a:avLst>
              <a:gd name="adj" fmla="val 13636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01168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稼働可能時間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29000" y="2011680"/>
            <a:ext cx="7818120" cy="603504"/>
          </a:xfrm>
          <a:prstGeom prst="roundRect">
            <a:avLst>
              <a:gd name="adj" fmla="val 9091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011680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（例：平日夜 ／ 土日 ／ 週◯時間）　※ご記入欄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2761488"/>
            <a:ext cx="2377440" cy="603504"/>
          </a:xfrm>
          <a:prstGeom prst="roundRect">
            <a:avLst>
              <a:gd name="adj" fmla="val 13636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276148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稼働形態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29000" y="2761488"/>
            <a:ext cx="7818120" cy="603504"/>
          </a:xfrm>
          <a:prstGeom prst="roundRect">
            <a:avLst>
              <a:gd name="adj" fmla="val 9091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0" y="2761488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（例：フルリモート ／ 一部オンサイト可）　※ご記入欄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3511296"/>
            <a:ext cx="2377440" cy="603504"/>
          </a:xfrm>
          <a:prstGeom prst="roundRect">
            <a:avLst>
              <a:gd name="adj" fmla="val 13636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351129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対応期間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429000" y="3511296"/>
            <a:ext cx="7818120" cy="603504"/>
          </a:xfrm>
          <a:prstGeom prst="roundRect">
            <a:avLst>
              <a:gd name="adj" fmla="val 9091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0" y="3511296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（例：スポット ／ 数か月の継続）　※ご記入欄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4261104"/>
            <a:ext cx="2377440" cy="603504"/>
          </a:xfrm>
          <a:prstGeom prst="roundRect">
            <a:avLst>
              <a:gd name="adj" fmla="val 13636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14400" y="426110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料金（目安）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429000" y="4261104"/>
            <a:ext cx="7818120" cy="603504"/>
          </a:xfrm>
          <a:prstGeom prst="roundRect">
            <a:avLst>
              <a:gd name="adj" fmla="val 9091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4261104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（例：登壇◯／教材制作◯／ツール開発◯）　※ご記入欄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5010912"/>
            <a:ext cx="2377440" cy="603504"/>
          </a:xfrm>
          <a:prstGeom prst="roundRect">
            <a:avLst>
              <a:gd name="adj" fmla="val 13636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" y="501091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稼働開始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429000" y="5010912"/>
            <a:ext cx="7818120" cy="603504"/>
          </a:xfrm>
          <a:prstGeom prst="roundRect">
            <a:avLst>
              <a:gd name="adj" fmla="val 9091"/>
            </a:avLst>
          </a:prstGeom>
          <a:solidFill>
            <a:srgbClr val="FBF5F3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0" y="5010912"/>
            <a:ext cx="7406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（例：◯月から ／ 即日相談可）　※ご記入欄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5720" cy="566928"/>
          </a:xfrm>
          <a:prstGeom prst="rect">
            <a:avLst/>
          </a:prstGeom>
          <a:solidFill>
            <a:srgbClr val="C77B92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20624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なぜ、私に任せると良いか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1137392" cy="0"/>
          </a:xfrm>
          <a:prstGeom prst="line">
            <a:avLst/>
          </a:prstGeom>
          <a:noFill/>
          <a:ln w="12700">
            <a:solidFill>
              <a:srgbClr val="E7D3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6459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16002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新人のつまずきを知っている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どこで詰まるかを踏まえ、脱落しにくい研修を設計できる。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4173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164592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6459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32320" y="16002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伝え方に強い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比喩と段階説明で、文系・未経験者にも“伝わる”。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38404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内製で速い・一貫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663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スライド・演習・ツール・ドキュメントを自分で作れる。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6576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886200"/>
            <a:ext cx="548640" cy="548640"/>
          </a:xfrm>
          <a:prstGeom prst="roundRect">
            <a:avLst>
              <a:gd name="adj" fmla="val 20000"/>
            </a:avLst>
          </a:prstGeom>
          <a:solidFill>
            <a:srgbClr val="C77B92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3886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32320" y="384048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誠実な情報設計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663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成果物は実物ベース。盛らずに事実で示す。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77B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08792" cy="5577840"/>
          </a:xfrm>
          <a:prstGeom prst="roundRect">
            <a:avLst>
              <a:gd name="adj" fmla="val 3279"/>
            </a:avLst>
          </a:prstGeom>
          <a:solidFill>
            <a:srgbClr val="FBF5F3"/>
          </a:solidFill>
          <a:ln/>
          <a:effectLst>
            <a:outerShdw sx="100000" sy="100000" kx="0" ky="0" algn="bl" rotWithShape="0" blurRad="114300" dist="25400" dir="5400000">
              <a:srgbClr val="D8B9C4">
                <a:alpha val="2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097280" y="1828800"/>
            <a:ext cx="2011680" cy="0"/>
          </a:xfrm>
          <a:prstGeom prst="line">
            <a:avLst/>
          </a:prstGeom>
          <a:noFill/>
          <a:ln w="19050">
            <a:solidFill>
              <a:srgbClr val="C2A3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3138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お問い合わせ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研修・教材制作・ツール開発のご相談を承ります。必要な工程だけでもお気軽にどうぞ。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834640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43000" y="28346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お名前 / 屋号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49040" y="2834640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77640" y="283464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／ 石黒（うさうさ先生）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97280" y="3547872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43000" y="354787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連絡先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49040" y="3547872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77640" y="35478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（メール ／ フォームURL）　※ご記入欄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97280" y="4261104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426110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749040" y="4261104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77640" y="426110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Qiita ／ Zenn ／ note.com　（URLをご記入）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97280" y="4974336"/>
            <a:ext cx="2468880" cy="566928"/>
          </a:xfrm>
          <a:prstGeom prst="roundRect">
            <a:avLst>
              <a:gd name="adj" fmla="val 14516"/>
            </a:avLst>
          </a:prstGeom>
          <a:solidFill>
            <a:srgbClr val="F6E8EC"/>
          </a:solidFill>
          <a:ln/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43000" y="49743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A85A7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メンタリング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749040" y="4974336"/>
            <a:ext cx="731520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7D3DA"/>
            </a:solidFill>
            <a:prstDash val="solid"/>
          </a:ln>
          <a:effectLst>
            <a:outerShdw sx="100000" sy="100000" kx="0" ky="0" algn="bl" rotWithShape="0" blurRad="63500" dist="12700" dir="5400000">
              <a:srgbClr val="E3CBD4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77640" y="497433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13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MENTA　（プロフィールURLをご記入）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7A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面白きこともなき世を面白く（高杉晋作）　— うさうさ先生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石黒（うさうさ研修工房）</dc:creator>
  <cp:lastModifiedBy>石黒（うさうさ研修工房）</cp:lastModifiedBy>
  <cp:revision>1</cp:revision>
  <dcterms:created xsi:type="dcterms:W3CDTF">2026-06-11T03:06:26Z</dcterms:created>
  <dcterms:modified xsi:type="dcterms:W3CDTF">2026-06-11T03:06:26Z</dcterms:modified>
</cp:coreProperties>
</file>