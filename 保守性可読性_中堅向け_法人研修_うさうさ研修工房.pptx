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中堅向け導入。原則を名前で言語化し、トレードオフを自覚する。各ページに公式/論文の出典を付す。最後に討議。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ゴール：原則名で説明・トレードオフ言語化・負債の地図。各ページに出典。最後に討議。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前提＝単一情報源・単方向。これが後半の効き目の土台。Redux/Fluxの考え方。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データ駆動＝OCPの実践。switch増殖を避ける。トレードオフ：暗黙仕様の増加。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単一情報源＝影響範囲が読める。トレードオフ：全再描画コスト。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関心の分離。データとロジックを分ける。Dijkstra(1974)が出典。レビューで“仕様か処理か”を問う。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DRY。共通の中間表現。早すぎる共通化の戒めも添える（Pragmatic Programmerの趣旨）。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純粋関数中心＝テスト容易。参照透過性。副作用を端に寄せる設計。Hughes(1990)が背景。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命名。動詞＋対象＋ドメイン語。Clean Code＋Buse-Weimerが出典。最小コストで最大効果。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規約の一貫性。予測可能性。Code Complete。Lint/雛形で自動化する運用まで触れる。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ガード節＋複雑度。McCabe(1976)。複雑度10の慣例。Fowlerのガード節。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意図を残す。Ousterhout。コメントは“なぜ”に絞る。宣言的データが読める仕様になる。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技術的負債。Cunningham(1992)。負債は悪ではないが台帳化・返済計画が要る。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討議。負債の言語化＋レビュー観点の選定。個人→グループ→共有。判断の言語化を評価。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まとめ＋全出典一覧。すべて原典・公式を確認済み。質疑へ。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5A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08792" cy="5577840"/>
          </a:xfrm>
          <a:prstGeom prst="roundRect">
            <a:avLst>
              <a:gd name="adj" fmla="val 3934"/>
            </a:avLst>
          </a:prstGeom>
          <a:solidFill>
            <a:srgbClr val="FDF6F9"/>
          </a:solidFill>
          <a:ln/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法人研修 ・ 設計品質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保守性・可読性の設計判断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原則とトレードオフ ― 実コードで読み解く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97280" y="352044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5204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対象：中堅エンジニア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352044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4EAF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35204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所要：約60分＋討議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97280" y="4206240"/>
            <a:ext cx="9966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25880" y="4370832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この研修のねらい　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「良い書き方」を原則の名前（OCP・SoC・DRY・複雑度・技術的負債…）で言語化し、トレードオフを自覚してレビュー・改修・引き継ぎで判断できる状態を目指します。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　／　石黒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8A5AA8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本日のゴールと進め方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4813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各観点を原則名で説明でき、根拠（公式/論文）を示せる</a:t>
            </a:r>
            <a:endParaRPr lang="en-US" sz="1400" dirty="0"/>
          </a:p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設計判断のトレードオフ（得るもの/引き換え）を言語化できる</a:t>
            </a:r>
            <a:endParaRPr lang="en-US" sz="1400" dirty="0"/>
          </a:p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自分のコードの“技術的負債”を挙げ、改善の地図を描ける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553712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保守性5観点 → 可読性4観点（各ページに出典）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改善余地＝技術的負債 → 討議 → まとめ・参考文献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35240" y="1481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アジェンダ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3524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8096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前提：単一情報源/単方向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35240" y="2587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80960" y="25877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25877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保守性：OCP・SoC・DRY・純粋関数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32095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0" y="32095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0" y="32095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可読性：命名・規約・複雑度・意図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35240" y="3831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80960" y="38313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38313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改善余地：技術的負債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35240" y="44531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80960" y="4453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0" y="44531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討議：負債とレビュー観点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35240" y="5074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80960" y="5074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0" y="5074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まとめ・参考文献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8A5AA8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前提：単一情報源・単方向データフロー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43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86000" y="3200400"/>
            <a:ext cx="210312" cy="0"/>
          </a:xfrm>
          <a:prstGeom prst="line">
            <a:avLst/>
          </a:prstGeom>
          <a:noFill/>
          <a:ln w="27940">
            <a:solidFill>
              <a:srgbClr val="8A5AA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96312" y="2743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0E9F6"/>
          </a:solidFill>
          <a:ln w="15875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42032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store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（唯一の状態）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13632" y="3200400"/>
            <a:ext cx="210312" cy="0"/>
          </a:xfrm>
          <a:prstGeom prst="line">
            <a:avLst/>
          </a:prstGeom>
          <a:noFill/>
          <a:ln w="27940">
            <a:solidFill>
              <a:srgbClr val="8A5AA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23944" y="2743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BE7EF"/>
          </a:solidFill>
          <a:ln w="15875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69664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buildDoc()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541264" y="3200400"/>
            <a:ext cx="210312" cy="0"/>
          </a:xfrm>
          <a:prstGeom prst="line">
            <a:avLst/>
          </a:prstGeom>
          <a:noFill/>
          <a:ln w="27940">
            <a:solidFill>
              <a:srgbClr val="8A5AA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51576" y="2743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97296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プレビュー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／出力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39776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Single Source of Truth ＝ 状態は store の1か所だけ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846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入力のたびに「store更新 → 全再描画 → 出力」の一定ループ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35240" y="150876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0E9F6"/>
          </a:solidFill>
          <a:ln/>
        </p:spPr>
      </p:sp>
      <p:sp>
        <p:nvSpPr>
          <p:cNvPr id="24" name="Shape 22"/>
          <p:cNvSpPr/>
          <p:nvPr/>
        </p:nvSpPr>
        <p:spPr>
          <a:xfrm>
            <a:off x="7635240" y="1508760"/>
            <a:ext cx="109728" cy="2194560"/>
          </a:xfrm>
          <a:prstGeom prst="roundRect">
            <a:avLst>
              <a:gd name="adj" fmla="val 33333"/>
            </a:avLst>
          </a:prstGeom>
          <a:solidFill>
            <a:srgbClr val="8A5AA8"/>
          </a:solidFill>
          <a:ln/>
        </p:spPr>
      </p:sp>
      <p:sp>
        <p:nvSpPr>
          <p:cNvPr id="25" name="Text 23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なぜ前提として置くか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91272" y="2039112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状態が1か所・流れが一方向だと、後半の各原則の効き目（影響範囲の読みやすさ・テスト容易性）が成立する。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635240" y="388620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DF6F9"/>
          </a:solidFill>
          <a:ln/>
        </p:spPr>
      </p:sp>
      <p:sp>
        <p:nvSpPr>
          <p:cNvPr id="28" name="Shape 26"/>
          <p:cNvSpPr/>
          <p:nvPr/>
        </p:nvSpPr>
        <p:spPr>
          <a:xfrm>
            <a:off x="7635240" y="3886200"/>
            <a:ext cx="109728" cy="182880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29" name="Text 27"/>
          <p:cNvSpPr/>
          <p:nvPr/>
        </p:nvSpPr>
        <p:spPr>
          <a:xfrm>
            <a:off x="7891272" y="39959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実装上の現れ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91272" y="441655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store["lesson.variant.key"] に名前空間化。双方向バインディングの“こっそり更新”が無い。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Redux 公式ドキュメント “Three Principles: Single source of truth” ／ Facebook Flux（単方向データフロー）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8A5AA8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保守性①：データ駆動 ＝ Open/Closed原則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50876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F0E9F6"/>
          </a:solidFill>
          <a:ln w="15240">
            <a:solidFill>
              <a:srgbClr val="8A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18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定義（データ）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24128" y="2011680"/>
            <a:ext cx="170078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69848" y="2011680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24128" y="2523744"/>
            <a:ext cx="170078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69848" y="2523744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24128" y="3035808"/>
            <a:ext cx="170078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69848" y="3035808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FIELDS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24128" y="3547872"/>
            <a:ext cx="170078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69848" y="354787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SAMPLES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0" y="2743200"/>
            <a:ext cx="685800" cy="0"/>
          </a:xfrm>
          <a:prstGeom prst="line">
            <a:avLst/>
          </a:prstGeom>
          <a:noFill/>
          <a:ln w="27940">
            <a:solidFill>
              <a:srgbClr val="8A5AA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788920" y="23957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03320" y="1874520"/>
            <a:ext cx="2971800" cy="868680"/>
          </a:xfrm>
          <a:prstGeom prst="roundRect">
            <a:avLst>
              <a:gd name="adj" fmla="val 10526"/>
            </a:avLst>
          </a:prstGeom>
          <a:solidFill>
            <a:srgbClr val="FBE7EF"/>
          </a:solidFill>
          <a:ln w="13970">
            <a:solidFill>
              <a:srgbClr val="D05A86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49040" y="18745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入力フォーム（自動生成）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03320" y="2880360"/>
            <a:ext cx="2971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97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49040" y="28803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完成文（out指定で整形）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" y="4343400"/>
            <a:ext cx="5806440" cy="1371600"/>
          </a:xfrm>
          <a:prstGeom prst="roundRect">
            <a:avLst>
              <a:gd name="adj" fmla="val 5333"/>
            </a:avLst>
          </a:prstGeom>
          <a:solidFill>
            <a:srgbClr val="FAF0F4"/>
          </a:solidFill>
          <a:ln w="12700">
            <a:solidFill>
              <a:srgbClr val="8A5A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" y="4434840"/>
            <a:ext cx="5513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新タイプ追加＝ロジック不変・データ追記のみ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VARIANTS.report.push({v:"nippo", label:"日報"});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META.report.nippo = {title:"日報", aim:"3行で"};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FIELDS.report.nippo = [ /* 項目 */ ];   // buildGeneric が整形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35240" y="15087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0E9F6"/>
          </a:solidFill>
          <a:ln/>
        </p:spPr>
      </p:sp>
      <p:sp>
        <p:nvSpPr>
          <p:cNvPr id="29" name="Shape 27"/>
          <p:cNvSpPr/>
          <p:nvPr/>
        </p:nvSpPr>
        <p:spPr>
          <a:xfrm>
            <a:off x="7635240" y="1508760"/>
            <a:ext cx="109728" cy="2103120"/>
          </a:xfrm>
          <a:prstGeom prst="roundRect">
            <a:avLst>
              <a:gd name="adj" fmla="val 33333"/>
            </a:avLst>
          </a:prstGeom>
          <a:solidFill>
            <a:srgbClr val="8A5AA8"/>
          </a:solidFill>
          <a:ln/>
        </p:spPr>
      </p:sp>
      <p:sp>
        <p:nvSpPr>
          <p:cNvPr id="30" name="Text 28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Open/Closed原則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91272" y="203911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拡張に開き、修正に閉じる。新タイプ追加で既存の分岐ロジックを触らない＝回帰リスクが小さい。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635240" y="3749040"/>
            <a:ext cx="3840480" cy="2057400"/>
          </a:xfrm>
          <a:prstGeom prst="roundRect">
            <a:avLst>
              <a:gd name="adj" fmla="val 4444"/>
            </a:avLst>
          </a:prstGeom>
          <a:solidFill>
            <a:srgbClr val="FDF6F9"/>
          </a:solidFill>
          <a:ln/>
        </p:spPr>
      </p:sp>
      <p:sp>
        <p:nvSpPr>
          <p:cNvPr id="33" name="Shape 31"/>
          <p:cNvSpPr/>
          <p:nvPr/>
        </p:nvSpPr>
        <p:spPr>
          <a:xfrm>
            <a:off x="7635240" y="3749040"/>
            <a:ext cx="109728" cy="205740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34" name="Text 32"/>
          <p:cNvSpPr/>
          <p:nvPr/>
        </p:nvSpPr>
        <p:spPr>
          <a:xfrm>
            <a:off x="7891272" y="3858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トレードオフ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91272" y="427939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得：追加コスト最小。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引換：定義スキーマの暗黙仕様が増える（ドキュメント化で補う）。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Meyer, B. (1988) Object-Oriented Software Construction（Open/Closed原則）／ Martin, R.C. SOLID・Clean Architecture (2017)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8A5AA8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保守性②：単一情報源で影響範囲を読む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0" y="2834640"/>
            <a:ext cx="1737360" cy="1280160"/>
          </a:xfrm>
          <a:prstGeom prst="ellipse">
            <a:avLst/>
          </a:prstGeom>
          <a:solidFill>
            <a:srgbClr val="F0E9F6"/>
          </a:solidFill>
          <a:ln w="19050">
            <a:solidFill>
              <a:srgbClr val="8A5AA8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0" y="28346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唯一の状態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182880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プレビュー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29768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297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様式変更→④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0" y="429768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74920" y="4297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出力追加→⑤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28800" y="2377440"/>
            <a:ext cx="1280160" cy="548640"/>
          </a:xfrm>
          <a:prstGeom prst="line">
            <a:avLst/>
          </a:prstGeom>
          <a:noFill/>
          <a:ln w="20320">
            <a:solidFill>
              <a:srgbClr val="8A5AA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80560" y="2926080"/>
            <a:ext cx="1005840" cy="-548640"/>
          </a:xfrm>
          <a:prstGeom prst="line">
            <a:avLst/>
          </a:prstGeom>
          <a:noFill/>
          <a:ln w="20320">
            <a:solidFill>
              <a:srgbClr val="8571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00400" y="4114800"/>
            <a:ext cx="-1005840" cy="320040"/>
          </a:xfrm>
          <a:prstGeom prst="line">
            <a:avLst/>
          </a:prstGeom>
          <a:noFill/>
          <a:ln w="20320">
            <a:solidFill>
              <a:srgbClr val="8571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389120" y="4114800"/>
            <a:ext cx="914400" cy="320040"/>
          </a:xfrm>
          <a:prstGeom prst="line">
            <a:avLst/>
          </a:prstGeom>
          <a:noFill/>
          <a:ln w="20320">
            <a:solidFill>
              <a:srgbClr val="85718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68680" y="5166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変更が局所化＝事前に見積もれる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35240" y="15087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0E9F6"/>
          </a:solidFill>
          <a:ln/>
        </p:spPr>
      </p:sp>
      <p:sp>
        <p:nvSpPr>
          <p:cNvPr id="26" name="Shape 24"/>
          <p:cNvSpPr/>
          <p:nvPr/>
        </p:nvSpPr>
        <p:spPr>
          <a:xfrm>
            <a:off x="7635240" y="1508760"/>
            <a:ext cx="109728" cy="2103120"/>
          </a:xfrm>
          <a:prstGeom prst="roundRect">
            <a:avLst>
              <a:gd name="adj" fmla="val 33333"/>
            </a:avLst>
          </a:prstGeom>
          <a:solidFill>
            <a:srgbClr val="8A5AA8"/>
          </a:solidFill>
          <a:ln/>
        </p:spPr>
      </p:sp>
      <p:sp>
        <p:nvSpPr>
          <p:cNvPr id="27" name="Text 25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効くポイント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91272" y="203911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値の出どころが一意＝バグ調査が速い。様式は④、出力は⑤、と修正対象が一意に決まる。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635240" y="3749040"/>
            <a:ext cx="3840480" cy="2057400"/>
          </a:xfrm>
          <a:prstGeom prst="roundRect">
            <a:avLst>
              <a:gd name="adj" fmla="val 4444"/>
            </a:avLst>
          </a:prstGeom>
          <a:solidFill>
            <a:srgbClr val="FD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7635240" y="3749040"/>
            <a:ext cx="109728" cy="205740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31" name="Text 29"/>
          <p:cNvSpPr/>
          <p:nvPr/>
        </p:nvSpPr>
        <p:spPr>
          <a:xfrm>
            <a:off x="7891272" y="3858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トレードオフ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91272" y="427939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得：影響範囲が読める。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引換：全再描画方式。規模が桁違いなら差分描画/デバウンスを検討。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Redux 公式ドキュメント “Three Principles: Single source of truth” ／ Facebook Flux（単方向データフロー）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8A5AA8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保守性③：関心の分離（SoC）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69164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0E9F6"/>
          </a:solidFill>
          <a:ln w="15240">
            <a:solidFill>
              <a:srgbClr val="8A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データ（What）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28600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VARIANTS / META</a:t>
            </a:r>
            <a:endParaRPr lang="en-US" sz="115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FIELDS / SAMPLES</a:t>
            </a:r>
            <a:endParaRPr lang="en-US" sz="115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→「何を書くか」を宣言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0" y="3474720"/>
            <a:ext cx="457200" cy="0"/>
          </a:xfrm>
          <a:prstGeom prst="line">
            <a:avLst/>
          </a:prstGeom>
          <a:noFill/>
          <a:ln w="25400">
            <a:solidFill>
              <a:srgbClr val="8A5AA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06240" y="1691640"/>
            <a:ext cx="2468880" cy="3657600"/>
          </a:xfrm>
          <a:prstGeom prst="roundRect">
            <a:avLst>
              <a:gd name="adj" fmla="val 3704"/>
            </a:avLst>
          </a:prstGeom>
          <a:solidFill>
            <a:srgbClr val="FBE7EF"/>
          </a:solidFill>
          <a:ln w="15240">
            <a:solidFill>
              <a:srgbClr val="D05A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8288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振る舞い（How）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2286000"/>
            <a:ext cx="2103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makeField（描画）</a:t>
            </a:r>
            <a:endParaRPr lang="en-US" sz="115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buildDoc / ビルダー</a:t>
            </a:r>
            <a:endParaRPr lang="en-US" sz="115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previewToBlocks</a:t>
            </a:r>
            <a:endParaRPr lang="en-US" sz="115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toX（出力変換）</a:t>
            </a:r>
            <a:endParaRPr lang="en-US" sz="115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→「どう整形するか」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15087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0E9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35240" y="1508760"/>
            <a:ext cx="109728" cy="2103120"/>
          </a:xfrm>
          <a:prstGeom prst="roundRect">
            <a:avLst>
              <a:gd name="adj" fmla="val 33333"/>
            </a:avLst>
          </a:prstGeom>
          <a:solidFill>
            <a:srgbClr val="8A5AA8"/>
          </a:solidFill>
          <a:ln/>
        </p:spPr>
      </p:sp>
      <p:sp>
        <p:nvSpPr>
          <p:cNvPr id="19" name="Text 17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Separation of Concerns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91272" y="203911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変更理由（仕様 vs 処理）で触る場所が分かれる。項目追加はデータ側、整形改善はロジック側。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35240" y="3749040"/>
            <a:ext cx="3840480" cy="2057400"/>
          </a:xfrm>
          <a:prstGeom prst="roundRect">
            <a:avLst>
              <a:gd name="adj" fmla="val 4444"/>
            </a:avLst>
          </a:prstGeom>
          <a:solidFill>
            <a:srgbClr val="FD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7635240" y="3749040"/>
            <a:ext cx="109728" cy="205740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23" name="Text 21"/>
          <p:cNvSpPr/>
          <p:nvPr/>
        </p:nvSpPr>
        <p:spPr>
          <a:xfrm>
            <a:off x="7891272" y="3858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レビュー観点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91272" y="427939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「この変更は仕様か処理か」を最初に問う。両方に触る変更は、分離が崩れているサイン。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Dijkstra, E.W. (1974) “On the role of scientific thought”, EWD447（関心の分離 / Separation of Concerns）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8A5AA8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保守性④：DRY（重複を作らない）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06324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完成文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40280" y="3337560"/>
            <a:ext cx="274320" cy="0"/>
          </a:xfrm>
          <a:prstGeom prst="line">
            <a:avLst/>
          </a:prstGeom>
          <a:noFill/>
          <a:ln w="22860">
            <a:solidFill>
              <a:srgbClr val="8A5AA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278892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F0E9F6"/>
          </a:solidFill>
          <a:ln w="16510">
            <a:solidFill>
              <a:srgbClr val="8A5AA8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2788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previewToBlocks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（共通の素）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17830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Markdown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3337560"/>
            <a:ext cx="365760" cy="-1298448"/>
          </a:xfrm>
          <a:prstGeom prst="line">
            <a:avLst/>
          </a:prstGeom>
          <a:noFill/>
          <a:ln w="16510">
            <a:solidFill>
              <a:srgbClr val="8571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12080" y="2441448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57800" y="2441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3337560"/>
            <a:ext cx="365760" cy="-640080"/>
          </a:xfrm>
          <a:prstGeom prst="line">
            <a:avLst/>
          </a:prstGeom>
          <a:noFill/>
          <a:ln w="16510">
            <a:solidFill>
              <a:srgbClr val="8571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12080" y="3099816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57800" y="309981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3337560"/>
            <a:ext cx="365760" cy="18288"/>
          </a:xfrm>
          <a:prstGeom prst="line">
            <a:avLst/>
          </a:prstGeom>
          <a:noFill/>
          <a:ln w="16510">
            <a:solidFill>
              <a:srgbClr val="8571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212080" y="3758184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257800" y="375818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0600" y="3337560"/>
            <a:ext cx="365760" cy="676656"/>
          </a:xfrm>
          <a:prstGeom prst="line">
            <a:avLst/>
          </a:prstGeom>
          <a:noFill/>
          <a:ln w="16510">
            <a:solidFill>
              <a:srgbClr val="8571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212080" y="4416552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57800" y="44165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00600" y="3337560"/>
            <a:ext cx="365760" cy="1335024"/>
          </a:xfrm>
          <a:prstGeom prst="line">
            <a:avLst/>
          </a:prstGeom>
          <a:noFill/>
          <a:ln w="16510">
            <a:solidFill>
              <a:srgbClr val="857180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68680" y="5212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整形を5回書かない＝直す箇所は1つ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35240" y="15087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0E9F6"/>
          </a:solidFill>
          <a:ln/>
        </p:spPr>
      </p:sp>
      <p:sp>
        <p:nvSpPr>
          <p:cNvPr id="32" name="Shape 30"/>
          <p:cNvSpPr/>
          <p:nvPr/>
        </p:nvSpPr>
        <p:spPr>
          <a:xfrm>
            <a:off x="7635240" y="1508760"/>
            <a:ext cx="109728" cy="2103120"/>
          </a:xfrm>
          <a:prstGeom prst="roundRect">
            <a:avLst>
              <a:gd name="adj" fmla="val 33333"/>
            </a:avLst>
          </a:prstGeom>
          <a:solidFill>
            <a:srgbClr val="8A5AA8"/>
          </a:solidFill>
          <a:ln/>
        </p:spPr>
      </p:sp>
      <p:sp>
        <p:nvSpPr>
          <p:cNvPr id="33" name="Text 31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DRYの効用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91272" y="203911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共通の中間表現を1つ持つ。変更コストと不整合リスクを同時に下げる。出力の見た目がブレない。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635240" y="3749040"/>
            <a:ext cx="3840480" cy="2057400"/>
          </a:xfrm>
          <a:prstGeom prst="roundRect">
            <a:avLst>
              <a:gd name="adj" fmla="val 4444"/>
            </a:avLst>
          </a:prstGeom>
          <a:solidFill>
            <a:srgbClr val="FDF6F9"/>
          </a:solidFill>
          <a:ln/>
        </p:spPr>
      </p:sp>
      <p:sp>
        <p:nvSpPr>
          <p:cNvPr id="36" name="Shape 34"/>
          <p:cNvSpPr/>
          <p:nvPr/>
        </p:nvSpPr>
        <p:spPr>
          <a:xfrm>
            <a:off x="7635240" y="3749040"/>
            <a:ext cx="109728" cy="205740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37" name="Text 35"/>
          <p:cNvSpPr/>
          <p:nvPr/>
        </p:nvSpPr>
        <p:spPr>
          <a:xfrm>
            <a:off x="7891272" y="3858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91272" y="427939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“早すぎる共通化”は逆効果。本当に同じ知識かを見極めてから共通化する。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Hunt, A. &amp; Thomas, D. (1999) The Pragmatic Programmer（DRY 原則）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8A5AA8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保守性⑤：純粋関数 ＝ テスト容易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432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743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40280" y="3154680"/>
            <a:ext cx="365760" cy="0"/>
          </a:xfrm>
          <a:prstGeom prst="line">
            <a:avLst/>
          </a:prstGeom>
          <a:noFill/>
          <a:ln w="25400">
            <a:solidFill>
              <a:srgbClr val="8A5AA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51760" y="260604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F0E9F6"/>
          </a:solidFill>
          <a:ln w="17780">
            <a:solidFill>
              <a:srgbClr val="8A5AA8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97480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純粋関数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f(x)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46320" y="3154680"/>
            <a:ext cx="365760" cy="0"/>
          </a:xfrm>
          <a:prstGeom prst="line">
            <a:avLst/>
          </a:prstGeom>
          <a:noFill/>
          <a:ln w="25400">
            <a:solidFill>
              <a:srgbClr val="8A5AA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57800" y="27432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BE7EF"/>
          </a:solidFill>
          <a:ln w="12700">
            <a:solidFill>
              <a:srgbClr val="D05A86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0" y="2743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88620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同じ入力 → 同じ出力（参照透過性・副作用なし）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3891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BE7EF"/>
          </a:solidFill>
          <a:ln w="12700">
            <a:solidFill>
              <a:srgbClr val="D05A86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389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esc()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50008" y="43891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BE7EF"/>
          </a:solidFill>
          <a:ln w="12700">
            <a:solidFill>
              <a:srgbClr val="D05A86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395728" y="4389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lines()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31336" y="43891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BE7EF"/>
          </a:solidFill>
          <a:ln w="12700">
            <a:solidFill>
              <a:srgbClr val="D05A86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77056" y="4389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clean()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12664" y="43891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BE7EF"/>
          </a:solidFill>
          <a:ln w="12700">
            <a:solidFill>
              <a:srgbClr val="D05A86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58384" y="4389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previewToBlocks()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" y="5074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DOM・通信に非依存＝単体で検証できる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35240" y="15087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0E9F6"/>
          </a:solidFill>
          <a:ln/>
        </p:spPr>
      </p:sp>
      <p:sp>
        <p:nvSpPr>
          <p:cNvPr id="29" name="Shape 27"/>
          <p:cNvSpPr/>
          <p:nvPr/>
        </p:nvSpPr>
        <p:spPr>
          <a:xfrm>
            <a:off x="7635240" y="1508760"/>
            <a:ext cx="109728" cy="2103120"/>
          </a:xfrm>
          <a:prstGeom prst="roundRect">
            <a:avLst>
              <a:gd name="adj" fmla="val 33333"/>
            </a:avLst>
          </a:prstGeom>
          <a:solidFill>
            <a:srgbClr val="8A5AA8"/>
          </a:solidFill>
          <a:ln/>
        </p:spPr>
      </p:sp>
      <p:sp>
        <p:nvSpPr>
          <p:cNvPr id="30" name="Text 28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なぜ保守に効く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91272" y="203911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出力の核を純粋関数で持つと、DOM/APIに依存せず単体テストが書ける。テストが“変更を守る”。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635240" y="3749040"/>
            <a:ext cx="3840480" cy="2057400"/>
          </a:xfrm>
          <a:prstGeom prst="roundRect">
            <a:avLst>
              <a:gd name="adj" fmla="val 4444"/>
            </a:avLst>
          </a:prstGeom>
          <a:solidFill>
            <a:srgbClr val="FDF6F9"/>
          </a:solidFill>
          <a:ln/>
        </p:spPr>
      </p:sp>
      <p:sp>
        <p:nvSpPr>
          <p:cNvPr id="33" name="Shape 31"/>
          <p:cNvSpPr/>
          <p:nvPr/>
        </p:nvSpPr>
        <p:spPr>
          <a:xfrm>
            <a:off x="7635240" y="3749040"/>
            <a:ext cx="109728" cy="205740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34" name="Text 32"/>
          <p:cNvSpPr/>
          <p:nvPr/>
        </p:nvSpPr>
        <p:spPr>
          <a:xfrm>
            <a:off x="7891272" y="3858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適用の指針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91272" y="427939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副作用（DOM操作・fetch）は端に寄せ、中心は純粋関数で。テスト容易性が段違いに上がる。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Hughes, J. (1990) “Why Functional Programming Matters”, The Computer Journal 32(2)（純粋関数・参照透過性）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8A5AA8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可読性①：命名で役割を伝える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60020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F7E6E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00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D57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 意図不明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1947672"/>
            <a:ext cx="5806440" cy="1051560"/>
          </a:xfrm>
          <a:prstGeom prst="roundRect">
            <a:avLst>
              <a:gd name="adj" fmla="val 6957"/>
            </a:avLst>
          </a:prstGeom>
          <a:solidFill>
            <a:srgbClr val="FAF0F4"/>
          </a:solidFill>
          <a:ln w="12700">
            <a:solidFill>
              <a:srgbClr val="EFD3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2039112"/>
            <a:ext cx="5513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f1(x){ … }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doIt(){ … }   // 何をする？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 = g(k);          // a とは？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31546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6F3E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1546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9C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このツール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3502152"/>
            <a:ext cx="5806440" cy="1371600"/>
          </a:xfrm>
          <a:prstGeom prst="roundRect">
            <a:avLst>
              <a:gd name="adj" fmla="val 5333"/>
            </a:avLst>
          </a:prstGeom>
          <a:solidFill>
            <a:srgbClr val="FAF0F4"/>
          </a:solidFill>
          <a:ln w="12700">
            <a:solidFill>
              <a:srgbClr val="8A5A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3593592"/>
            <a:ext cx="5513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buildNaibu()       // 社内報告を組み立てる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previewToBlocks()  // プレビュー→ブロック列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getV(k)/setV(k,v)  // 値の取得/保存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動詞＋対象＋ドメイン語で語彙を統一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635240" y="15087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0E9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635240" y="1508760"/>
            <a:ext cx="109728" cy="2103120"/>
          </a:xfrm>
          <a:prstGeom prst="roundRect">
            <a:avLst>
              <a:gd name="adj" fmla="val 33333"/>
            </a:avLst>
          </a:prstGeom>
          <a:solidFill>
            <a:srgbClr val="8A5AA8"/>
          </a:solidFill>
          <a:ln/>
        </p:spPr>
      </p:sp>
      <p:sp>
        <p:nvSpPr>
          <p:cNvPr id="20" name="Text 18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91272" y="203911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「動詞＋対象」で役割を表す。ドメイン語（Naibu/Shagai/Manual）で語彙を統一。略語は意味が一意なものだけ。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35240" y="3749040"/>
            <a:ext cx="3840480" cy="2057400"/>
          </a:xfrm>
          <a:prstGeom prst="roundRect">
            <a:avLst>
              <a:gd name="adj" fmla="val 4444"/>
            </a:avLst>
          </a:prstGeom>
          <a:solidFill>
            <a:srgbClr val="FDF6F9"/>
          </a:solidFill>
          <a:ln/>
        </p:spPr>
      </p:sp>
      <p:sp>
        <p:nvSpPr>
          <p:cNvPr id="23" name="Shape 21"/>
          <p:cNvSpPr/>
          <p:nvPr/>
        </p:nvSpPr>
        <p:spPr>
          <a:xfrm>
            <a:off x="7635240" y="3749040"/>
            <a:ext cx="109728" cy="205740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24" name="Text 22"/>
          <p:cNvSpPr/>
          <p:nvPr/>
        </p:nvSpPr>
        <p:spPr>
          <a:xfrm>
            <a:off x="7891272" y="3858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研究知見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91272" y="427939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Buse &amp; Weimer は、識別子など局所的特徴が可読性に強く効くと示唆。命名は最小コストで最大効果。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Martin, R.C. (2008) Clean Code（命名・読む時間の経験則） ／ Buse, R. &amp; Weimer, W. (2008) “A Metric for Software Readability”, ISSTA ’08 ／ (2010) IEEE TSE 36(4):546–558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8A5AA8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可読性②：一貫した規約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同じことは、いつも同じ書き方で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1965960"/>
            <a:ext cx="5806440" cy="603504"/>
          </a:xfrm>
          <a:prstGeom prst="roundRect">
            <a:avLst>
              <a:gd name="adj" fmla="val 12121"/>
            </a:avLst>
          </a:prstGeom>
          <a:solidFill>
            <a:srgbClr val="FDF6F9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196596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ストアキー　</a:t>
            </a:r>
            <a:pPr indent="0" marL="0"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lesson.variant.key で名前空間化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679192"/>
            <a:ext cx="5806440" cy="603504"/>
          </a:xfrm>
          <a:prstGeom prst="roundRect">
            <a:avLst>
              <a:gd name="adj" fmla="val 12121"/>
            </a:avLst>
          </a:prstGeom>
          <a:solidFill>
            <a:srgbClr val="FDF6F9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67919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内部記法　</a:t>
            </a:r>
            <a:pPr indent="0" marL="0"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■=見出し ／ ・=箇条書き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392424"/>
            <a:ext cx="5806440" cy="603504"/>
          </a:xfrm>
          <a:prstGeom prst="roundRect">
            <a:avLst>
              <a:gd name="adj" fmla="val 12121"/>
            </a:avLst>
          </a:prstGeom>
          <a:solidFill>
            <a:srgbClr val="FDF6F9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339242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ビルダー名　</a:t>
            </a:r>
            <a:pPr indent="0" marL="0"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build＋対象（Naibu/Manual…）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105656"/>
            <a:ext cx="5806440" cy="603504"/>
          </a:xfrm>
          <a:prstGeom prst="roundRect">
            <a:avLst>
              <a:gd name="adj" fmla="val 12121"/>
            </a:avLst>
          </a:prstGeom>
          <a:solidFill>
            <a:srgbClr val="FDF6F9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10565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出力変換名　</a:t>
            </a:r>
            <a:pPr indent="0" marL="0"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to＋形式（toMarkdown/toCSV…）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818888"/>
            <a:ext cx="5806440" cy="603504"/>
          </a:xfrm>
          <a:prstGeom prst="roundRect">
            <a:avLst>
              <a:gd name="adj" fmla="val 12121"/>
            </a:avLst>
          </a:prstGeom>
          <a:solidFill>
            <a:srgbClr val="FDF6F9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481888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既定値　</a:t>
            </a:r>
            <a:pPr indent="0" marL="0"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未設定は空文字／配列は空N行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35240" y="15087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0E9F6"/>
          </a:solidFill>
          <a:ln/>
        </p:spPr>
      </p:sp>
      <p:sp>
        <p:nvSpPr>
          <p:cNvPr id="22" name="Shape 20"/>
          <p:cNvSpPr/>
          <p:nvPr/>
        </p:nvSpPr>
        <p:spPr>
          <a:xfrm>
            <a:off x="7635240" y="1508760"/>
            <a:ext cx="109728" cy="2103120"/>
          </a:xfrm>
          <a:prstGeom prst="roundRect">
            <a:avLst>
              <a:gd name="adj" fmla="val 33333"/>
            </a:avLst>
          </a:prstGeom>
          <a:solidFill>
            <a:srgbClr val="8A5AA8"/>
          </a:solidFill>
          <a:ln/>
        </p:spPr>
      </p:sp>
      <p:sp>
        <p:nvSpPr>
          <p:cNvPr id="23" name="Text 21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91272" y="203911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予測可能性が上がり、読む速度が増す。新規コードも同じ型で書け、レビューで“流儀の差”を指摘せずに済む。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35240" y="3749040"/>
            <a:ext cx="3840480" cy="2057400"/>
          </a:xfrm>
          <a:prstGeom prst="roundRect">
            <a:avLst>
              <a:gd name="adj" fmla="val 4444"/>
            </a:avLst>
          </a:prstGeom>
          <a:solidFill>
            <a:srgbClr val="FD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7635240" y="3749040"/>
            <a:ext cx="109728" cy="205740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27" name="Text 25"/>
          <p:cNvSpPr/>
          <p:nvPr/>
        </p:nvSpPr>
        <p:spPr>
          <a:xfrm>
            <a:off x="7891272" y="3858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91272" y="427939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規約はLintや雛形で“自動で守られる”状態にすると、属人性が消える。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McConnell, S. (2004) Code Complete 2nd ed.（コーディング規約・一貫性）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8A5AA8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可読性③：ガード節 ＋ 複雑度を下げる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572768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F7E6E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727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D57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 ネスト深い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05840" y="1938528"/>
            <a:ext cx="2377440" cy="1097280"/>
          </a:xfrm>
          <a:prstGeom prst="roundRect">
            <a:avLst>
              <a:gd name="adj" fmla="val 5000"/>
            </a:avLst>
          </a:prstGeom>
          <a:ln w="15240">
            <a:solidFill>
              <a:srgbClr val="BD57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212848"/>
            <a:ext cx="2011680" cy="822960"/>
          </a:xfrm>
          <a:prstGeom prst="roundRect">
            <a:avLst>
              <a:gd name="adj" fmla="val 6667"/>
            </a:avLst>
          </a:prstGeom>
          <a:ln w="15240">
            <a:solidFill>
              <a:srgbClr val="BD57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2487168"/>
            <a:ext cx="1645920" cy="548640"/>
          </a:xfrm>
          <a:prstGeom prst="roundRect">
            <a:avLst>
              <a:gd name="adj" fmla="val 10000"/>
            </a:avLst>
          </a:prstGeom>
          <a:ln w="15240">
            <a:solidFill>
              <a:srgbClr val="BD57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5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if(a){ if(b){ if(c){ } } 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0" y="1572768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6F3EE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15727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9C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ガード節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1938528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FBE7EF"/>
          </a:solidFill>
          <a:ln w="12700">
            <a:solidFill>
              <a:srgbClr val="D05A8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69080" y="2322576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FBE7EF"/>
          </a:solidFill>
          <a:ln w="12700">
            <a:solidFill>
              <a:srgbClr val="D05A8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69080" y="2706624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FBE7EF"/>
          </a:solidFill>
          <a:ln w="12700">
            <a:solidFill>
              <a:srgbClr val="D05A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1975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C3E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if(!ok) return;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早期returnで本筋が左に揃う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8680" y="3657600"/>
            <a:ext cx="5806440" cy="1737360"/>
          </a:xfrm>
          <a:prstGeom prst="roundRect">
            <a:avLst>
              <a:gd name="adj" fmla="val 4211"/>
            </a:avLst>
          </a:prstGeom>
          <a:solidFill>
            <a:srgbClr val="FAF0F4"/>
          </a:solidFill>
          <a:ln w="12700">
            <a:solidFill>
              <a:srgbClr val="8A5A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4984" y="3749040"/>
            <a:ext cx="5513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sec(L,label,val,mode){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if(!val) return;            // ガード節＝分岐を1つ減らす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L.push("■ "+label);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lines(val).forEach(x =&gt;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L.push(mode==="bullets"?"・"+x:"　"+x));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35240" y="15087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0E9F6"/>
          </a:solidFill>
          <a:ln/>
        </p:spPr>
      </p:sp>
      <p:sp>
        <p:nvSpPr>
          <p:cNvPr id="26" name="Shape 24"/>
          <p:cNvSpPr/>
          <p:nvPr/>
        </p:nvSpPr>
        <p:spPr>
          <a:xfrm>
            <a:off x="7635240" y="1508760"/>
            <a:ext cx="109728" cy="2103120"/>
          </a:xfrm>
          <a:prstGeom prst="roundRect">
            <a:avLst>
              <a:gd name="adj" fmla="val 33333"/>
            </a:avLst>
          </a:prstGeom>
          <a:solidFill>
            <a:srgbClr val="8A5AA8"/>
          </a:solidFill>
          <a:ln/>
        </p:spPr>
      </p:sp>
      <p:sp>
        <p:nvSpPr>
          <p:cNvPr id="27" name="Text 25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循環的複雑度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91272" y="203911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分岐の数＝複雑度（McCabe）。ネストとガード節で分岐を整理すると、複雑度＝理解コストが下がる。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635240" y="3749040"/>
            <a:ext cx="3840480" cy="2057400"/>
          </a:xfrm>
          <a:prstGeom prst="roundRect">
            <a:avLst>
              <a:gd name="adj" fmla="val 4444"/>
            </a:avLst>
          </a:prstGeom>
          <a:solidFill>
            <a:srgbClr val="FD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7635240" y="3749040"/>
            <a:ext cx="109728" cy="205740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31" name="Text 29"/>
          <p:cNvSpPr/>
          <p:nvPr/>
        </p:nvSpPr>
        <p:spPr>
          <a:xfrm>
            <a:off x="7891272" y="3858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91272" y="427939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1関数の複雑度はおおむね10以下を目安に（McCabeの上限の慣例）。超えたら分割を検討。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Fowler, M. (2018) Refactoring 2nd ed.（Guard Clauses）／ McCabe, T.J. (1976) “A Complexity Measure”, IEEE TSE SE-2:308–320（循環的複雑度）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8A5AA8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可読性④：意図を残す（宣言的データ＋意図）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691640"/>
            <a:ext cx="5806440" cy="2011680"/>
          </a:xfrm>
          <a:prstGeom prst="roundRect">
            <a:avLst>
              <a:gd name="adj" fmla="val 3636"/>
            </a:avLst>
          </a:prstGeom>
          <a:solidFill>
            <a:srgbClr val="FAF0F4"/>
          </a:solidFill>
          <a:ln w="12700">
            <a:solidFill>
              <a:srgbClr val="EFD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1783080"/>
            <a:ext cx="55138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key:"concl", type:"textarea", label:"結論",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tip:"先に言い切る",   // ← なぜ書くか（意図）を残す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out:"para" }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データを読むだけで「項目・意図・整形」が分かる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3931920"/>
            <a:ext cx="5806440" cy="1554480"/>
          </a:xfrm>
          <a:prstGeom prst="roundRect">
            <a:avLst>
              <a:gd name="adj" fmla="val 5882"/>
            </a:avLst>
          </a:prstGeom>
          <a:solidFill>
            <a:srgbClr val="FBE7E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宣言的な定義 ＝ そのまま“読める仕様”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4805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tip が「なぜこの項目か」を説明する</a:t>
            </a:r>
            <a:endParaRPr lang="en-US" sz="120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コメント過多ではなく“構造”で意図を表す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35240" y="15087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0E9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635240" y="1508760"/>
            <a:ext cx="109728" cy="2103120"/>
          </a:xfrm>
          <a:prstGeom prst="roundRect">
            <a:avLst>
              <a:gd name="adj" fmla="val 33333"/>
            </a:avLst>
          </a:prstGeom>
          <a:solidFill>
            <a:srgbClr val="8A5AA8"/>
          </a:solidFill>
          <a:ln/>
        </p:spPr>
      </p:sp>
      <p:sp>
        <p:nvSpPr>
          <p:cNvPr id="17" name="Text 15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91272" y="203911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「何を」だけでなく「なぜ」を残す。Ousterhout は“意図はコメントで残す”を重視。宣言的データは仕様とコードを近づける。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35240" y="3749040"/>
            <a:ext cx="3840480" cy="2057400"/>
          </a:xfrm>
          <a:prstGeom prst="roundRect">
            <a:avLst>
              <a:gd name="adj" fmla="val 4444"/>
            </a:avLst>
          </a:prstGeom>
          <a:solidFill>
            <a:srgbClr val="FD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635240" y="3749040"/>
            <a:ext cx="109728" cy="205740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21" name="Text 19"/>
          <p:cNvSpPr/>
          <p:nvPr/>
        </p:nvSpPr>
        <p:spPr>
          <a:xfrm>
            <a:off x="7891272" y="3858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91272" y="427939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「何をしているか」を繰り返すコメントは不要。コメントは“なぜ”に絞る。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Ousterhout, J. (2018) A Philosophy of Software Design（コメント=意図）／ Buse &amp; Weimer (2010) “Learning a Metric for Code Readability”, IEEE TSE 36(4)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8A5AA8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改善余地 ＝ 技術的負債を“自覚”する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55448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負債は放置すると“利子”が増える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3108960"/>
            <a:ext cx="603504" cy="640080"/>
          </a:xfrm>
          <a:prstGeom prst="roundRect">
            <a:avLst>
              <a:gd name="adj" fmla="val 6061"/>
            </a:avLst>
          </a:prstGeom>
          <a:solidFill>
            <a:srgbClr val="BD8A2E">
              <a:alpha val="8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74520" y="2834640"/>
            <a:ext cx="603504" cy="914400"/>
          </a:xfrm>
          <a:prstGeom prst="roundRect">
            <a:avLst>
              <a:gd name="adj" fmla="val 6061"/>
            </a:avLst>
          </a:prstGeom>
          <a:solidFill>
            <a:srgbClr val="BD8A2E">
              <a:alpha val="91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2514600"/>
            <a:ext cx="603504" cy="1234440"/>
          </a:xfrm>
          <a:prstGeom prst="roundRect">
            <a:avLst>
              <a:gd name="adj" fmla="val 6061"/>
            </a:avLst>
          </a:prstGeom>
          <a:solidFill>
            <a:srgbClr val="BD8A2E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2148840"/>
            <a:ext cx="603504" cy="1600200"/>
          </a:xfrm>
          <a:prstGeom prst="roundRect">
            <a:avLst>
              <a:gd name="adj" fmla="val 6061"/>
            </a:avLst>
          </a:prstGeom>
          <a:solidFill>
            <a:srgbClr val="BD8A2E">
              <a:alpha val="97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 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" y="4160520"/>
            <a:ext cx="5806440" cy="365760"/>
          </a:xfrm>
          <a:prstGeom prst="roundRect">
            <a:avLst>
              <a:gd name="adj" fmla="val 15000"/>
            </a:avLst>
          </a:prstGeom>
          <a:solidFill>
            <a:srgbClr val="F8F0DD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テスト外部化　</a:t>
            </a:r>
            <a:pPr indent="0" marL="0">
              <a:buNone/>
            </a:pPr>
            <a:r>
              <a:rPr lang="en-US" sz="10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純粋関数を独立ファイルで自動テスト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581144"/>
            <a:ext cx="5806440" cy="365760"/>
          </a:xfrm>
          <a:prstGeom prst="roundRect">
            <a:avLst>
              <a:gd name="adj" fmla="val 15000"/>
            </a:avLst>
          </a:prstGeom>
          <a:solidFill>
            <a:srgbClr val="F8F0DD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45811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CSS一本化　</a:t>
            </a:r>
            <a:pPr indent="0" marL="0">
              <a:buNone/>
            </a:pPr>
            <a:r>
              <a:rPr lang="en-US" sz="10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 :root を最終テーマへ統合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5001768"/>
            <a:ext cx="5806440" cy="365760"/>
          </a:xfrm>
          <a:prstGeom prst="roundRect">
            <a:avLst>
              <a:gd name="adj" fmla="val 15000"/>
            </a:avLst>
          </a:prstGeom>
          <a:solidFill>
            <a:srgbClr val="F8F0DD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51560" y="5001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責務分割　</a:t>
            </a:r>
            <a:pPr indent="0" marL="0">
              <a:buNone/>
            </a:pPr>
            <a:r>
              <a:rPr lang="en-US" sz="10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純粋生成と DOM 結線を分離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5422392"/>
            <a:ext cx="5806440" cy="365760"/>
          </a:xfrm>
          <a:prstGeom prst="roundRect">
            <a:avLst>
              <a:gd name="adj" fmla="val 15000"/>
            </a:avLst>
          </a:prstGeom>
          <a:solidFill>
            <a:srgbClr val="F8F0DD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51560" y="54223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i18n / エラー細粒度　</a:t>
            </a:r>
            <a:pPr indent="0" marL="0">
              <a:buNone/>
            </a:pPr>
            <a:r>
              <a:rPr lang="en-US" sz="10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文言分離・AI失敗を原因別表示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35240" y="150876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F0E9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635240" y="1508760"/>
            <a:ext cx="109728" cy="2286000"/>
          </a:xfrm>
          <a:prstGeom prst="roundRect">
            <a:avLst>
              <a:gd name="adj" fmla="val 33333"/>
            </a:avLst>
          </a:prstGeom>
          <a:solidFill>
            <a:srgbClr val="8A5AA8"/>
          </a:solidFill>
          <a:ln/>
        </p:spPr>
      </p:sp>
      <p:sp>
        <p:nvSpPr>
          <p:cNvPr id="26" name="Text 24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技術的負債（Cunningham）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91272" y="2039112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“早く出す”ための借り。悪ではないが、放置すると利子（改修コスト）が増える。何を借りたかを台帳化する。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635240" y="397764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FD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7635240" y="3977640"/>
            <a:ext cx="109728" cy="173736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30" name="Text 28"/>
          <p:cNvSpPr/>
          <p:nvPr/>
        </p:nvSpPr>
        <p:spPr>
          <a:xfrm>
            <a:off x="7891272" y="40873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中堅の役割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91272" y="450799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単一HTMLの強みと引き換え（テスト/分割のしにくさ）を言語化し、返済計画を持つ。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Cunningham, W. (1992) “The WyCash Portfolio Management System”, OOPSLA（技術的負債メタファ）／ Fowler, M. Technical Debt Quadrant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8A5AA8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ディスカッション（15分）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50876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F8F0DD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508760"/>
            <a:ext cx="109728" cy="1371600"/>
          </a:xfrm>
          <a:prstGeom prst="roundRect">
            <a:avLst>
              <a:gd name="adj" fmla="val 33333"/>
            </a:avLst>
          </a:prstGeom>
          <a:solidFill>
            <a:srgbClr val="BD8A2E"/>
          </a:solidFill>
          <a:ln/>
        </p:spPr>
      </p:sp>
      <p:sp>
        <p:nvSpPr>
          <p:cNvPr id="11" name="Text 9"/>
          <p:cNvSpPr/>
          <p:nvPr/>
        </p:nvSpPr>
        <p:spPr>
          <a:xfrm>
            <a:off x="1033272" y="161848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お題（グループ）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33272" y="203911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自分の担当コードから「技術的負債」を1つ挙げ、①何を借りているか ②利子（将来コスト）③返済の第一歩 を言語化する。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017520"/>
            <a:ext cx="6126480" cy="1280160"/>
          </a:xfrm>
          <a:prstGeom prst="roundRect">
            <a:avLst>
              <a:gd name="adj" fmla="val 7143"/>
            </a:avLst>
          </a:prstGeom>
          <a:solidFill>
            <a:srgbClr val="F8F0DD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017520"/>
            <a:ext cx="109728" cy="1280160"/>
          </a:xfrm>
          <a:prstGeom prst="roundRect">
            <a:avLst>
              <a:gd name="adj" fmla="val 33333"/>
            </a:avLst>
          </a:prstGeom>
          <a:solidFill>
            <a:srgbClr val="BD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1033272" y="312724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レビュー観点の共有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33272" y="354787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今日の原則（OCP/SoC/DRY/複雑度/命名/意図）から、自チームのレビューに足したい観点を3つ選ぶ。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4480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進め方：個人3分 → グループ7分 → 共有5分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35240" y="15087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0E9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635240" y="1508760"/>
            <a:ext cx="109728" cy="2103120"/>
          </a:xfrm>
          <a:prstGeom prst="roundRect">
            <a:avLst>
              <a:gd name="adj" fmla="val 33333"/>
            </a:avLst>
          </a:prstGeom>
          <a:solidFill>
            <a:srgbClr val="8A5AA8"/>
          </a:solidFill>
          <a:ln/>
        </p:spPr>
      </p:sp>
      <p:sp>
        <p:nvSpPr>
          <p:cNvPr id="21" name="Text 19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ねらい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91272" y="203911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原則を“自分のコード”に接続する。負債を可視化し、明日のレビューに具体的観点を1つ足す。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35240" y="3749040"/>
            <a:ext cx="3840480" cy="2057400"/>
          </a:xfrm>
          <a:prstGeom prst="roundRect">
            <a:avLst>
              <a:gd name="adj" fmla="val 4444"/>
            </a:avLst>
          </a:prstGeom>
          <a:solidFill>
            <a:srgbClr val="FDF6F9"/>
          </a:solidFill>
          <a:ln/>
        </p:spPr>
      </p:sp>
      <p:sp>
        <p:nvSpPr>
          <p:cNvPr id="24" name="Shape 22"/>
          <p:cNvSpPr/>
          <p:nvPr/>
        </p:nvSpPr>
        <p:spPr>
          <a:xfrm>
            <a:off x="7635240" y="3749040"/>
            <a:ext cx="109728" cy="205740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25" name="Text 23"/>
          <p:cNvSpPr/>
          <p:nvPr/>
        </p:nvSpPr>
        <p:spPr>
          <a:xfrm>
            <a:off x="7891272" y="3858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ファシリ補足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91272" y="427939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「正解」ではなく「判断の言語化」を評価する。トレードオフを言えたチームを称賛。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8A5AA8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 ＆ 参考文献（公式・論文）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0E9F6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F0E9F6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保守性（変えやすさ）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901952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データ駆動＝OCP（追加で既存を壊さない）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単一情報源＋単方向（影響範囲が読める）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SoC・DRY・純粋関数（分離・重複排除・テスト容易）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可読性（読みやすさ）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096512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命名・一貫規約（予測可能性）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ガード節＋複雑度（理解コストを下げる）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意図を残す（“なぜ”を構造に）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325880"/>
            <a:ext cx="54223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3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参考文献（各ページ出典の一覧）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1874520"/>
            <a:ext cx="5074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ISO/IEC 25010（品質モデル：Maintainability）</a:t>
            </a:r>
            <a:endParaRPr lang="en-US" sz="1080" dirty="0"/>
          </a:p>
          <a:p>
            <a:pPr marL="203200" indent="-2032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Meyer (1988) OOSC／Martin SOLID：Open/Closed</a:t>
            </a:r>
            <a:endParaRPr lang="en-US" sz="1080" dirty="0"/>
          </a:p>
          <a:p>
            <a:pPr marL="203200" indent="-2032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Dijkstra (1974) EWD447：関心の分離</a:t>
            </a:r>
            <a:endParaRPr lang="en-US" sz="1080" dirty="0"/>
          </a:p>
          <a:p>
            <a:pPr marL="203200" indent="-2032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Hunt &amp; Thomas (1999) Pragmatic Programmer：DRY</a:t>
            </a:r>
            <a:endParaRPr lang="en-US" sz="1080" dirty="0"/>
          </a:p>
          <a:p>
            <a:pPr marL="203200" indent="-2032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Hughes (1990) Why FP Matters：純粋関数</a:t>
            </a:r>
            <a:endParaRPr lang="en-US" sz="1080" dirty="0"/>
          </a:p>
          <a:p>
            <a:pPr marL="203200" indent="-2032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Martin (2008) Clean Code：命名</a:t>
            </a:r>
            <a:endParaRPr lang="en-US" sz="1080" dirty="0"/>
          </a:p>
          <a:p>
            <a:pPr marL="203200" indent="-2032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McConnell (2004) Code Complete：規約</a:t>
            </a:r>
            <a:endParaRPr lang="en-US" sz="1080" dirty="0"/>
          </a:p>
          <a:p>
            <a:pPr marL="203200" indent="-2032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McCabe (1976) IEEE TSE：循環的複雑度</a:t>
            </a:r>
            <a:endParaRPr lang="en-US" sz="1080" dirty="0"/>
          </a:p>
          <a:p>
            <a:pPr marL="203200" indent="-2032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Fowler (2018) Refactoring：ガード節</a:t>
            </a:r>
            <a:endParaRPr lang="en-US" sz="1080" dirty="0"/>
          </a:p>
          <a:p>
            <a:pPr marL="203200" indent="-2032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Ousterhout (2018) A Philosophy of SW Design：意図</a:t>
            </a:r>
            <a:endParaRPr lang="en-US" sz="1080" dirty="0"/>
          </a:p>
          <a:p>
            <a:pPr marL="203200" indent="-2032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Buse &amp; Weimer (2008 ISSTA / 2010 IEEE TSE)：可読性指標</a:t>
            </a:r>
            <a:endParaRPr lang="en-US" sz="1080" dirty="0"/>
          </a:p>
          <a:p>
            <a:pPr marL="203200" indent="-2032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Cunningham (1992) OOPSLA：技術的負債</a:t>
            </a:r>
            <a:endParaRPr lang="en-US" sz="1080" dirty="0"/>
          </a:p>
          <a:p>
            <a:pPr marL="203200" indent="-2032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Redux 公式 “Three Principles”：単一情報源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出典はすべて一次情報（原典・公式ドキュメント）を確認のうえ記載。詳細は各ページの「参考」を参照。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石黒（うさうさ研修工房）</dc:creator>
  <cp:lastModifiedBy>石黒（うさうさ研修工房）</cp:lastModifiedBy>
  <cp:revision>1</cp:revision>
  <dcterms:created xsi:type="dcterms:W3CDTF">2026-06-11T02:41:47Z</dcterms:created>
  <dcterms:modified xsi:type="dcterms:W3CDTF">2026-06-11T02:41:47Z</dcterms:modified>
</cp:coreProperties>
</file>