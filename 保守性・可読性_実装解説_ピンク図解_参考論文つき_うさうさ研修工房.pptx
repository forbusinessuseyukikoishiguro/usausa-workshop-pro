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機能ではなく『あとで楽になる書き方（保守性）』『読める書き方（可読性）』を実コードで解説。各ページに新人/中堅の指針と、公式・論文の参考を入れているので、深掘りの入口に使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2本柱を品質モデルに位置づける。保守性はISO/IEC 25010の正式な品質特性。可読性はその解析性を支える土台、と説明。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単方向・単一情報源（Single Source of Truth）の前提。Redux/Fluxの考え方が背景。後半の各観点はこの前提の上で効く。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保守性の核＝データ駆動。switch分岐の増殖を避け、VARIANTS/META/FIELDSにデータを足すだけ。Open/Closed原則の実例として中堅に響く。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状態が1か所＝影響範囲が読める。様式は④、出力は⑤、と局所化。デバッグもレビューも楽になる。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関心の分離。データ（What）と振る舞い（How）を分け、変更理由ごとに触る場所が分かれる。Dijkstraの用語を背景に。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DRY。5形式それぞれに整形を書くと修正が分散してズレる。previewToBlocksという共通の素を1つ持つ。Pragmatic Programmerが出典。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純粋関数中心＝テストで守れる。参照透過性。DOM非依存なので単体テストが書ける。Hughes『Why Functional Programming Matters』が背景。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命名は可読性の第一歩。f1/doItは中身を読まないと分からない。動詞＋対象＋ドメイン語で統一。Clean Code とBuse-Weimer(2008)が出典。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規約の一貫性。命名・記法・既定値を揃える。予測可能性が上がり読む速度が増す。Code Completeが背景。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ガード節で早期return、ネストを浅く。複雑度（McCabe 1976）を下げる。FowlerのRefactoringが出典。1関数1責務も併せて。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意図を残す。宣言的データ＋tipで“なぜ”を表現。Ousterhout『A Philosophy of Software Design』が背景。コメント過多に頼らず構造で語る。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改善余地を技術的負債として正直に提示。Cunningham(1992)の負債メタファ。強みと引き換えを言語化するのが高保守の姿勢。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まとめ。2本柱のチェックリストと、各ページ出典の一覧。すべて原典・公式を確認済み。質疑へ。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69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4918"/>
            </a:avLst>
          </a:prstGeom>
          <a:solidFill>
            <a:srgbClr val="FFF5F8"/>
          </a:solidFill>
          <a:ln/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88720" y="1097280"/>
            <a:ext cx="146304" cy="146304"/>
          </a:xfrm>
          <a:prstGeom prst="ellipse">
            <a:avLst/>
          </a:prstGeom>
          <a:solidFill>
            <a:srgbClr val="A06BC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1280160"/>
            <a:ext cx="128016" cy="128016"/>
          </a:xfrm>
          <a:prstGeom prst="ellipse">
            <a:avLst/>
          </a:prstGeom>
          <a:solidFill>
            <a:srgbClr val="E26A93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5486400"/>
            <a:ext cx="109728" cy="109728"/>
          </a:xfrm>
          <a:prstGeom prst="ellipse">
            <a:avLst/>
          </a:prstGeom>
          <a:solidFill>
            <a:srgbClr val="C9912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5394960"/>
            <a:ext cx="164592" cy="164592"/>
          </a:xfrm>
          <a:prstGeom prst="ellipse">
            <a:avLst/>
          </a:prstGeom>
          <a:solidFill>
            <a:srgbClr val="A06BC0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CODE QUALITY ・ 実装解説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保守性・可読性を意識した実装解説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報告書＆手順書ファクトリー PRO のコードを、品質の観点から読み解く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6118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BE6E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611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 ＝ 変えやすさ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0" y="36118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1E8F8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611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 ＝ 読みやすさ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97280" y="4297680"/>
            <a:ext cx="9966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25880" y="4462272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この資料の特徴：　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図解を多めに、各ページに 🐣新人向け・🦅中堅向け の指針と、公式ドキュメント／論文ベースの参考文献を明記しています。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　石黒　／　2026-06-11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C84B7E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2本柱と、品質モデルでの位置づけ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1760" y="1554480"/>
            <a:ext cx="2468880" cy="603504"/>
          </a:xfrm>
          <a:prstGeom prst="roundRect">
            <a:avLst>
              <a:gd name="adj" fmla="val 15152"/>
            </a:avLst>
          </a:prstGeom>
          <a:solidFill>
            <a:srgbClr val="FBE0EC"/>
          </a:solidFill>
          <a:ln w="15875">
            <a:solidFill>
              <a:srgbClr val="E6699A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55448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ソフトウェア品質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08960" y="2157984"/>
            <a:ext cx="-914400" cy="539496"/>
          </a:xfrm>
          <a:prstGeom prst="line">
            <a:avLst/>
          </a:prstGeom>
          <a:noFill/>
          <a:ln w="2286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2157984"/>
            <a:ext cx="914400" cy="539496"/>
          </a:xfrm>
          <a:prstGeom prst="line">
            <a:avLst/>
          </a:prstGeom>
          <a:noFill/>
          <a:ln w="2286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" y="269748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FBE6EF"/>
          </a:solidFill>
          <a:ln w="15875">
            <a:solidFill>
              <a:srgbClr val="E26A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変えやすさ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611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単方向フロー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関心の分離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DRY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269748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F1E8F8"/>
          </a:solidFill>
          <a:ln w="15875">
            <a:solidFill>
              <a:srgbClr val="A06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06240" y="3200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＝ 読みやすさ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361188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一貫した規約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小さな関数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ガード節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意図の記録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保守性は品質モデルの正式な特性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可読性はその土台（理解しやすさ）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前半=保守性／後半=可読性で解説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むずかしく考えず「あとで自分が楽になる書き方」と捉えればOK。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ISO/IEC 25010 では Maintainability の下位に Analysability（解析性）等があり、可読性はそこを支える。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ISO/IEC 25010（システム/ソフトウェア品質モデル）— Maintainability を品質特性として定義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C84B7E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前提：状態は1か所・流れは一方向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86000" y="3200400"/>
            <a:ext cx="210312" cy="0"/>
          </a:xfrm>
          <a:prstGeom prst="line">
            <a:avLst/>
          </a:prstGeom>
          <a:noFill/>
          <a:ln w="2794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96312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BE6EF"/>
          </a:solidFill>
          <a:ln w="15875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（唯一の状態）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913632" y="3200400"/>
            <a:ext cx="210312" cy="0"/>
          </a:xfrm>
          <a:prstGeom prst="line">
            <a:avLst/>
          </a:prstGeom>
          <a:noFill/>
          <a:ln w="2794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23944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1E8F8"/>
          </a:solidFill>
          <a:ln w="15875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9664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buildDoc()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41264" y="3200400"/>
            <a:ext cx="210312" cy="0"/>
          </a:xfrm>
          <a:prstGeom prst="line">
            <a:avLst/>
          </a:prstGeom>
          <a:noFill/>
          <a:ln w="2794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51576" y="27432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97296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／出力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86000" y="3840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Single Source of Truth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0" y="2377440"/>
            <a:ext cx="1828800" cy="310896"/>
          </a:xfrm>
          <a:prstGeom prst="ellipse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868680" y="4754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入力のたびに「store更新 → 全部作り直す → 出す」の一定ループ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値の出どころが store の1か所だけ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上の層は下の層を呼ぶだけ＝予測可能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様式は④、出力は⑤、と局所化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「値はどこ？」と迷ったら store を見る、と覚えるだけでOK。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単一情報源＋単方向。双方向バインディングの“どこで書き換わったか問題”を避けられる。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Redux 公式ドキュメント “Three Principles: Single source of truth” ／ Facebook Flux（単方向データフロー）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E26A93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データ駆動：型を“追記”で増やす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6E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554480"/>
            <a:ext cx="2103120" cy="3017520"/>
          </a:xfrm>
          <a:prstGeom prst="roundRect">
            <a:avLst>
              <a:gd name="adj" fmla="val 4348"/>
            </a:avLst>
          </a:prstGeom>
          <a:solidFill>
            <a:srgbClr val="FBE6EF"/>
          </a:solidFill>
          <a:ln w="15240">
            <a:solidFill>
              <a:srgbClr val="E26A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6642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定義（データ）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20574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057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265176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2651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324612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32461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384048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38404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SAMPLES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3063240"/>
            <a:ext cx="731520" cy="0"/>
          </a:xfrm>
          <a:prstGeom prst="line">
            <a:avLst/>
          </a:prstGeom>
          <a:noFill/>
          <a:ln w="3048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26080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21488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E7F5EF"/>
          </a:solidFill>
          <a:ln w="13970">
            <a:solidFill>
              <a:srgbClr val="3FA98B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86200" y="2148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入力フォーム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0" y="324612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1E8F8"/>
          </a:solidFill>
          <a:ln w="13970">
            <a:solidFill>
              <a:srgbClr val="A06BC0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86200" y="3246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完成文（out指定で整形）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4754880"/>
            <a:ext cx="5806440" cy="868680"/>
          </a:xfrm>
          <a:prstGeom prst="roundRect">
            <a:avLst>
              <a:gd name="adj" fmla="val 8421"/>
            </a:avLst>
          </a:prstGeom>
          <a:solidFill>
            <a:srgbClr val="FBE0EC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75488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Open/Closed原則：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拡張に開き、修正に閉じる。新タイプ追加で既存ロジックを触らない（＝回帰しにくい）。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分岐を増やすのでなくデータを宣言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新タイプ追加は3〜4手の追記で完結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整形の共通処理は1か所に集約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switch文を増やさず、表（データ）に1行足す感覚。だから壊しにくい。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Open/Closed原則の実践。buildGeneric が out 指定で整形を肩代わりする。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Meyer, B. (1988) Object-Oriented Software Construction（Open/Closed原則）／ Martin, R.C. SOLID・Clean Architecture (2017)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E26A93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単一情報源：影響範囲が読める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6E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2834640"/>
            <a:ext cx="1737360" cy="1280160"/>
          </a:xfrm>
          <a:prstGeom prst="ellipse">
            <a:avLst/>
          </a:prstGeom>
          <a:solidFill>
            <a:srgbClr val="FBE6EF"/>
          </a:solidFill>
          <a:ln w="19050">
            <a:solidFill>
              <a:srgbClr val="E26A93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28346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唯一の状態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82880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429768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様式変更→④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0" y="429768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4297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出力追加→⑤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28800" y="2377440"/>
            <a:ext cx="1280160" cy="548640"/>
          </a:xfrm>
          <a:prstGeom prst="line">
            <a:avLst/>
          </a:prstGeom>
          <a:noFill/>
          <a:ln w="2032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80560" y="2926080"/>
            <a:ext cx="1005840" cy="-548640"/>
          </a:xfrm>
          <a:prstGeom prst="line">
            <a:avLst/>
          </a:prstGeom>
          <a:noFill/>
          <a:ln w="20320">
            <a:solidFill>
              <a:srgbClr val="8A6A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00400" y="4114800"/>
            <a:ext cx="-1005840" cy="320040"/>
          </a:xfrm>
          <a:prstGeom prst="line">
            <a:avLst/>
          </a:prstGeom>
          <a:noFill/>
          <a:ln w="20320">
            <a:solidFill>
              <a:srgbClr val="8A6A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89120" y="4114800"/>
            <a:ext cx="914400" cy="320040"/>
          </a:xfrm>
          <a:prstGeom prst="line">
            <a:avLst/>
          </a:prstGeom>
          <a:noFill/>
          <a:ln w="20320">
            <a:solidFill>
              <a:srgbClr val="8A6A7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68680" y="5120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変更が局所化＝事前に見積もれる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バグ調査は store だけ見ればよい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様式は④だけ／出力は⑤だけ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副作用が予測でき、こっそり更新が無い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状態が1か所だから、原因の場所が一発で分かりやすい。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Single Source of Truth。修正の影響範囲が事前に見積もれる＝レビューが速い。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Redux 公式ドキュメント “Three Principles: Single source of truth” ／ Facebook Flux（単方向データフロー）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E26A93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関心の分離：データと振る舞い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6E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691640"/>
            <a:ext cx="2743200" cy="3657600"/>
          </a:xfrm>
          <a:prstGeom prst="roundRect">
            <a:avLst>
              <a:gd name="adj" fmla="val 3333"/>
            </a:avLst>
          </a:prstGeom>
          <a:solidFill>
            <a:srgbClr val="FBE6EF"/>
          </a:solidFill>
          <a:ln w="15240">
            <a:solidFill>
              <a:srgbClr val="E26A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データ（What）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VARIANTS（種類）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META（見出し）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FIELDS（項目）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SAMPLES（下書き）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→「何を書くか」を宣言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0" y="3474720"/>
            <a:ext cx="457200" cy="0"/>
          </a:xfrm>
          <a:prstGeom prst="line">
            <a:avLst/>
          </a:prstGeom>
          <a:noFill/>
          <a:ln w="2540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1691640"/>
            <a:ext cx="2468880" cy="3657600"/>
          </a:xfrm>
          <a:prstGeom prst="roundRect">
            <a:avLst>
              <a:gd name="adj" fmla="val 3704"/>
            </a:avLst>
          </a:prstGeom>
          <a:solidFill>
            <a:srgbClr val="F1E8F8"/>
          </a:solidFill>
          <a:ln w="15240">
            <a:solidFill>
              <a:srgbClr val="A06B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振る舞い（How）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2286000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makeField（描画）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buildDoc/ビルダー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toX（出力変換）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→「どう整形するか」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項目の追加・変更はデータ側だけで完結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整形ロジックは項目が増えても不変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仕様と処理を別々に読める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「何を書くか」と「どう整形するか」を別の場所に分けてある、と捉える。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変更理由（仕様 vs 処理）で触る場所が分かれる＝Separation of Concerns。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Dijkstra, E.W. (1974) “On the role of scientific thought”, EWD447（関心の分離 / Separation of Concerns）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E26A93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DRY：1つの中間表現から5形式へ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6E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06324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0280" y="3337560"/>
            <a:ext cx="274320" cy="0"/>
          </a:xfrm>
          <a:prstGeom prst="line">
            <a:avLst/>
          </a:prstGeom>
          <a:noFill/>
          <a:ln w="2286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27889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BE6EF"/>
          </a:solidFill>
          <a:ln w="16510">
            <a:solidFill>
              <a:srgbClr val="E26A93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</a:t>
            </a:r>
            <a:endParaRPr lang="en-US" sz="125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2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（共通の素）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12080" y="1783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5780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3337560"/>
            <a:ext cx="365760" cy="-1298448"/>
          </a:xfrm>
          <a:prstGeom prst="line">
            <a:avLst/>
          </a:prstGeom>
          <a:noFill/>
          <a:ln w="16510">
            <a:solidFill>
              <a:srgbClr val="8A6A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2441448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2441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337560"/>
            <a:ext cx="365760" cy="-640080"/>
          </a:xfrm>
          <a:prstGeom prst="line">
            <a:avLst/>
          </a:prstGeom>
          <a:noFill/>
          <a:ln w="16510">
            <a:solidFill>
              <a:srgbClr val="8A6A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12080" y="3099816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30998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3337560"/>
            <a:ext cx="365760" cy="18288"/>
          </a:xfrm>
          <a:prstGeom prst="line">
            <a:avLst/>
          </a:prstGeom>
          <a:noFill/>
          <a:ln w="16510">
            <a:solidFill>
              <a:srgbClr val="8A6A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12080" y="3758184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57800" y="37581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3337560"/>
            <a:ext cx="365760" cy="676656"/>
          </a:xfrm>
          <a:prstGeom prst="line">
            <a:avLst/>
          </a:prstGeom>
          <a:noFill/>
          <a:ln w="16510">
            <a:solidFill>
              <a:srgbClr val="8A6A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12080" y="4416552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57800" y="4416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3337560"/>
            <a:ext cx="365760" cy="1335024"/>
          </a:xfrm>
          <a:prstGeom prst="line">
            <a:avLst/>
          </a:prstGeom>
          <a:noFill/>
          <a:ln w="16510">
            <a:solidFill>
              <a:srgbClr val="8A6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6868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整形を5回書かない＝直す箇所は1つ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整形ロジックを形式ごとに重複させない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完成文を一度だけ構造化して再利用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出力の見た目がブレない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同じ処理を何度も書かない。1か所直せば全部に効く、が合言葉。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DRY。共通の中間表現を1つ持つ設計。変更コストと不整合リスクを同時に下げる。</a:t>
            </a:r>
            <a:endParaRPr lang="en-US" sz="1180" dirty="0"/>
          </a:p>
        </p:txBody>
      </p:sp>
      <p:sp>
        <p:nvSpPr>
          <p:cNvPr id="40" name="Shape 38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Hunt, A. &amp; Thomas, D. (1999) The Pragmatic Programmer（DRY 原則）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E26A93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純粋関数：テストで“守れる”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E6EF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3154680"/>
            <a:ext cx="365760" cy="0"/>
          </a:xfrm>
          <a:prstGeom prst="line">
            <a:avLst/>
          </a:prstGeom>
          <a:noFill/>
          <a:ln w="2540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51760" y="260604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FBE6EF"/>
          </a:solidFill>
          <a:ln w="17780">
            <a:solidFill>
              <a:srgbClr val="E26A93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</a:t>
            </a:r>
            <a:endParaRPr lang="en-US" sz="1500" dirty="0"/>
          </a:p>
          <a:p>
            <a:pPr algn="ctr" indent="0" marL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f(x)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3154680"/>
            <a:ext cx="365760" cy="0"/>
          </a:xfrm>
          <a:prstGeom prst="line">
            <a:avLst/>
          </a:prstGeom>
          <a:noFill/>
          <a:ln w="25400">
            <a:solidFill>
              <a:srgbClr val="E6699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27432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E7F5EF"/>
          </a:solidFill>
          <a:ln w="12700">
            <a:solidFill>
              <a:srgbClr val="3FA98B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2743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8862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同じ入力 → 同じ出力（副作用なし）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3891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BE0EC"/>
          </a:solidFill>
          <a:ln w="12700">
            <a:solidFill>
              <a:srgbClr val="E6699A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389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esc()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50008" y="43891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BE0EC"/>
          </a:solidFill>
          <a:ln w="12700">
            <a:solidFill>
              <a:srgbClr val="E6699A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95728" y="4389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lines()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31336" y="43891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BE0EC"/>
          </a:solidFill>
          <a:ln w="12700">
            <a:solidFill>
              <a:srgbClr val="E6699A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77056" y="4389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clean()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12664" y="438912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BE0EC"/>
          </a:solidFill>
          <a:ln w="12700">
            <a:solidFill>
              <a:srgbClr val="E6699A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58384" y="43891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5074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DOM・通信に依存しない＝単体で検証できる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同じ入力なら同じ出力＝テストしやすい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DOMやAPIに依存せず単体で検証できる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リファクタしても挙動を担保できる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 esc や previewToBlocks のテストから。合否が一目で分かって楽しい。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参照透過性。出力の核を純粋関数で持つと“変更が怖くない”状態を作れる。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Hughes, J. (1990) “Why Functional Programming Matters”, The Computer Journal 32(2)（純粋関数・参照透過性）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A06BC0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命名：名前で役割が伝わる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8F8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60020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7E6E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8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 意図不明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1947672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BEFF4"/>
          </a:solidFill>
          <a:ln w="12700">
            <a:solidFill>
              <a:srgbClr val="F2CE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039112"/>
            <a:ext cx="5468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f1(x){ … }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doIt(){ … }   // 何をする？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g(k);          // a とは？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15468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E7F5E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A9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このツール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502152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BEFF4"/>
          </a:solidFill>
          <a:ln w="12700">
            <a:solidFill>
              <a:srgbClr val="A06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593592"/>
            <a:ext cx="5468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buildNaibu()       // 社内報告を組み立てる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previewToBlocks()  // プレビュー→ブロック列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getV(k)/setV(k,v)  // 値の取得/保存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動詞＋対象。読めば役割が分かる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029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ドメイン語（Naibu / Shagai / Manual）で語彙を統一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「動詞＋対象」で何をするか分かる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ドメイン語で語彙を統一する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略語は意味が一意なものだけ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名前を良くするだけで、コメントを読まずに処理が追える。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Buse &amp; Weimer の研究では、識別子など局所的特徴が可読性に強く効くと示唆。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Martin, R.C. (2008) Clean Code（命名）／ Buse, R. &amp; Weimer, W. (2008) “A Metric for Software Readability”, ISSTA ’08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A06BC0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一貫した規約：迷いを生まない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8F8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5544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同じことは、いつも同じ書き方で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FF5F8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196596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ストアキー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lesson.variant.key で名前空間化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679192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FF5F8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67919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内部記法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■=見出し ／ ・=箇条書き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392424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FF5F8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339242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ビルダー名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build＋対象（Naibu/Manual…）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105656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FF5F8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410565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出力変換名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to＋形式（toMarkdown/toCSV…）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818888"/>
            <a:ext cx="5806440" cy="603504"/>
          </a:xfrm>
          <a:prstGeom prst="roundRect">
            <a:avLst>
              <a:gd name="adj" fmla="val 12121"/>
            </a:avLst>
          </a:prstGeom>
          <a:solidFill>
            <a:srgbClr val="FFF5F8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481888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既定値　</a:t>
            </a:r>
            <a:pPr indent="0" marL="0"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未設定は空文字／配列は空N行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次に何が来るか予測でき、速く読める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新しいコードも同じ型で書ける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“流儀の差”をレビューで指摘せずに済む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ルールが揃っていると、初めて見るコードもスッと読めます。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規約＝チームの共通言語。Code Complete も一貫性を強調。スタイル統一は学習コストを下げる。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McConnell, S. (2004) Code Complete 2nd ed.（コーディング規約・一貫性）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A06BC0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ガード節：ネストを浅く保つ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8F8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57276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7E6E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8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 ネスト深い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1938528"/>
            <a:ext cx="2377440" cy="1188720"/>
          </a:xfrm>
          <a:prstGeom prst="roundRect">
            <a:avLst>
              <a:gd name="adj" fmla="val 4615"/>
            </a:avLst>
          </a:prstGeom>
          <a:ln w="15240">
            <a:solidFill>
              <a:srgbClr val="C058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231136"/>
            <a:ext cx="2011680" cy="896112"/>
          </a:xfrm>
          <a:prstGeom prst="roundRect">
            <a:avLst>
              <a:gd name="adj" fmla="val 6122"/>
            </a:avLst>
          </a:prstGeom>
          <a:ln w="15240">
            <a:solidFill>
              <a:srgbClr val="C058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2523744"/>
            <a:ext cx="1645920" cy="603504"/>
          </a:xfrm>
          <a:prstGeom prst="roundRect">
            <a:avLst>
              <a:gd name="adj" fmla="val 9091"/>
            </a:avLst>
          </a:prstGeom>
          <a:ln w="15240">
            <a:solidFill>
              <a:srgbClr val="C058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58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if(val){ if(…){ if(…){ } } 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0" y="157276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E7F5EF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A9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ガード節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1938528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E7F5EF"/>
          </a:solidFill>
          <a:ln w="12700">
            <a:solidFill>
              <a:srgbClr val="3FA9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2322576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E7F5EF"/>
          </a:solidFill>
          <a:ln w="12700">
            <a:solidFill>
              <a:srgbClr val="3FA9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2706624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E7F5EF"/>
          </a:solidFill>
          <a:ln w="12700">
            <a:solidFill>
              <a:srgbClr val="3FA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1975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6E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if(!val) return;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早期returnで横に流れない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657600"/>
            <a:ext cx="5806440" cy="1737360"/>
          </a:xfrm>
          <a:prstGeom prst="roundRect">
            <a:avLst>
              <a:gd name="adj" fmla="val 4211"/>
            </a:avLst>
          </a:prstGeom>
          <a:solidFill>
            <a:srgbClr val="FBEFF4"/>
          </a:solidFill>
          <a:ln w="12700">
            <a:solidFill>
              <a:srgbClr val="A06B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3749040"/>
            <a:ext cx="5513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sec(L,label,val,mode){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if(!val) return;            // ガード節（早期return）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L.push("■ "+label);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lines(val).forEach(x =&gt;     // 小さな関数を合成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L.push(mode==="bullets"?"・"+x:"　"+x));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ガード節でネストを浅く保つ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小さな部品（lines/clean）を合成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1関数＝1つの仕事に絞る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条件のたびに字下げが深くなると読みにくい。先に return で弾く。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ネストの深さは循環的複雑度に直結（McCabe 1976）。Fowler のガード節で複雑度を下げる。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Fowler, M. (2018) Refactoring 2nd ed.（Guard Clauses）／ McCabe, T.J. (1976) “A Complexity Measure”, IEEE TSE SE-2:308–320（循環的複雑度）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A06BC0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意図を残す：宣言的データ＋tip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8F8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691640"/>
            <a:ext cx="5806440" cy="2011680"/>
          </a:xfrm>
          <a:prstGeom prst="roundRect">
            <a:avLst>
              <a:gd name="adj" fmla="val 3636"/>
            </a:avLst>
          </a:prstGeom>
          <a:solidFill>
            <a:srgbClr val="FBEFF4"/>
          </a:solidFill>
          <a:ln w="12700">
            <a:solidFill>
              <a:srgbClr val="F2CE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783080"/>
            <a:ext cx="5513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key:"concl", type:"textarea", label:"結論",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tip:"先に言い切る",   // ← なぜ書くか（意図）を残す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out:"para" }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データを読むだけで「項目・意図・整形」が分かる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931920"/>
            <a:ext cx="5806440" cy="1554480"/>
          </a:xfrm>
          <a:prstGeom prst="roundRect">
            <a:avLst>
              <a:gd name="adj" fmla="val 5882"/>
            </a:avLst>
          </a:prstGeom>
          <a:solidFill>
            <a:srgbClr val="F1E8F8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宣言的な定義 ＝ そのまま“読める仕様書”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480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tip が「なぜこの項目があるか」を説明する</a:t>
            </a:r>
            <a:endParaRPr lang="en-US" sz="1200" dirty="0"/>
          </a:p>
          <a:p>
            <a:pPr marL="190500" indent="-1905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コメント過多ではなく“構造”で意図を表す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“何を”だけでなく“なぜ”を残す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宣言的データが仕様とコードを近づける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後任が背景を理解できる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tip に「なぜ書くか」が残るので、引き継いだ人も迷いません。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Ousterhout は“意図はコメントで残す”を重視。Buse-Weimer(2010) は可読性の定量化を提案。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Ousterhout, J. (2018) A Philosophy of Software Design（コメント=意図）／ Buse &amp; Weimer (2010) “Learning a Metric for Code Readability”, IEEE TSE 36(4):546–558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C9912F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改善余地：技術的負債を“自覚”する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24160" y="5120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BF2DE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5120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6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101600" dist="25400" dir="5400000">
              <a:srgbClr val="D89BB6">
                <a:alpha val="2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6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負債は放置すると“利子”が増える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3108960"/>
            <a:ext cx="603504" cy="640080"/>
          </a:xfrm>
          <a:prstGeom prst="roundRect">
            <a:avLst>
              <a:gd name="adj" fmla="val 6061"/>
            </a:avLst>
          </a:prstGeom>
          <a:solidFill>
            <a:srgbClr val="C9912F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2834640"/>
            <a:ext cx="603504" cy="914400"/>
          </a:xfrm>
          <a:prstGeom prst="roundRect">
            <a:avLst>
              <a:gd name="adj" fmla="val 6061"/>
            </a:avLst>
          </a:prstGeom>
          <a:solidFill>
            <a:srgbClr val="C9912F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514600"/>
            <a:ext cx="603504" cy="1234440"/>
          </a:xfrm>
          <a:prstGeom prst="roundRect">
            <a:avLst>
              <a:gd name="adj" fmla="val 6061"/>
            </a:avLst>
          </a:prstGeom>
          <a:solidFill>
            <a:srgbClr val="C9912F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148840"/>
            <a:ext cx="603504" cy="1600200"/>
          </a:xfrm>
          <a:prstGeom prst="roundRect">
            <a:avLst>
              <a:gd name="adj" fmla="val 6061"/>
            </a:avLst>
          </a:prstGeom>
          <a:solidFill>
            <a:srgbClr val="C9912F">
              <a:alpha val="9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6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4160520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FBF2DE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テスト外部化　</a:t>
            </a:r>
            <a:pPr indent="0" marL="0">
              <a:buNone/>
            </a:pPr>
            <a:r>
              <a:rPr lang="en-US" sz="10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純粋関数を独立ファイルで自動テスト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4581144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FBF2DE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5811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CSS一本化　</a:t>
            </a:r>
            <a:pPr indent="0" marL="0">
              <a:buNone/>
            </a:pPr>
            <a:r>
              <a:rPr lang="en-US" sz="10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 :root を最終テーマへ統合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5001768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FBF2DE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5001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責務分割　</a:t>
            </a:r>
            <a:pPr indent="0" marL="0">
              <a:buNone/>
            </a:pPr>
            <a:r>
              <a:rPr lang="en-US" sz="10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純粋生成と DOM 結線を分離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5422392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FBF2DE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5422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i18n / エラー細粒度　</a:t>
            </a:r>
            <a:pPr indent="0" marL="0">
              <a:buNone/>
            </a:pPr>
            <a:r>
              <a:rPr lang="en-US" sz="10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文言分離・AI失敗を原因別表示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06640" y="1325880"/>
            <a:ext cx="427939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89520" y="17556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単一HTMLの強みには引き換えがある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テスト導入・分割がしにくい点を自覚</a:t>
            </a:r>
            <a:endParaRPr lang="en-US" sz="11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改善余地＝負債の地図（欠点ではない）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7406640" y="2816352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7F5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71232" y="2962656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571232" y="29626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6E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🐣 新人向け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89520" y="3364992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完璧じゃなくてOK。“ここは将来直す”と分かっていることが大事。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7406640" y="4261104"/>
            <a:ext cx="4279392" cy="1325880"/>
          </a:xfrm>
          <a:prstGeom prst="roundRect">
            <a:avLst>
              <a:gd name="adj" fmla="val 6897"/>
            </a:avLst>
          </a:prstGeom>
          <a:solidFill>
            <a:srgbClr val="E9EEF9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71232" y="440740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571232" y="44074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50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🦅 中堅向け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589520" y="4809744"/>
            <a:ext cx="39136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技術的負債（Cunningham 1992）。何を捨て何を得たかを言語化すると判断がブレない。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Cunningham, W. (1992) “The WyCash Portfolio Management System”, OOPSLA（技術的負債メタファ）／ Fowler, M. Technical Debt Quadrant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85216" cy="585216"/>
          </a:xfrm>
          <a:prstGeom prst="ellipse">
            <a:avLst/>
          </a:prstGeom>
          <a:solidFill>
            <a:srgbClr val="C84B7E"/>
          </a:solidFill>
          <a:ln/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3840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07008" y="347472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＆ 参考文献（公式・論文）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BE6E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447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E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保守性チェック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追加はデータ追記で済むか（分岐を増やさない）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状態は1か所か／変更が局所化されるか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重複を共通化（DRY）／核は純粋関数か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1E8F8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822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3E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可読性チェック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名前で役割が伝わるか（動詞＋対象）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規約が一貫／ガード節でネスト浅いか</a:t>
            </a:r>
            <a:endParaRPr lang="en-US" sz="1150" dirty="0"/>
          </a:p>
          <a:p>
            <a:pPr marL="190500" indent="-1905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“なぜ”が tip・構造に残っているか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325880"/>
            <a:ext cx="5513832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2CEDD"/>
            </a:solidFill>
            <a:prstDash val="solid"/>
          </a:ln>
          <a:effectLst>
            <a:outerShdw sx="100000" sy="100000" kx="0" ky="0" algn="bl" rotWithShape="0" blurRad="63500" dist="12700" dir="5400000">
              <a:srgbClr val="E2B3C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4447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参考文献（各ページ出典の一覧）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ISO/IEC 25010（品質モデル：Maintainability）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Meyer (1988) OOSC／Martin SOLID：Open/Closed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Dijkstra (1974) EWD447：関心の分離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Hunt &amp; Thomas (1999) Pragmatic Programmer：DRY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Hughes (1990) Why FP Matters：純粋関数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Martin (2008) Clean Code：命名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McConnell (2004) Code Complete：規約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McCabe (1976) IEEE TSE：循環的複雑度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Fowler (2018) Refactoring：ガード節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Ousterhout (2018) A Philosophy of SW Design：意図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Buse &amp; Weimer (2008 ISSTA / 2010 IEEE TSE)：可読性指標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Cunningham (1992) OOPSLA：技術的負債</a:t>
            </a:r>
            <a:endParaRPr lang="en-US" sz="1080" dirty="0"/>
          </a:p>
          <a:p>
            <a:pPr marL="190500" indent="-1905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Redux 公式 “Three Principles”：単一情報源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C84B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📚 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E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上記はすべて一次情報（原典・公式ドキュメント）を確認のうえ記載。詳細は各ページの「📚 参考」を参照。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保守性・可読性を意識した実装解説（ピンク版）</dc:title>
  <dc:subject>PptxGenJS Presentation</dc:subject>
  <dc:creator>石黒（うさうさ研修工房）</dc:creator>
  <cp:lastModifiedBy>石黒（うさうさ研修工房）</cp:lastModifiedBy>
  <cp:revision>1</cp:revision>
  <dcterms:created xsi:type="dcterms:W3CDTF">2026-06-11T02:30:51Z</dcterms:created>
  <dcterms:modified xsi:type="dcterms:W3CDTF">2026-06-11T02:30:51Z</dcterms:modified>
</cp:coreProperties>
</file>